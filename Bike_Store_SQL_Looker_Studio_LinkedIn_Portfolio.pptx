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9144000" cy="11430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50" d="100"/>
          <a:sy n="50" d="100"/>
        </p:scale>
        <p:origin x="1668"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2B55"/>
        </a:solidFill>
        <a:effectLst/>
      </p:bgPr>
    </p:bg>
    <p:spTree>
      <p:nvGrpSpPr>
        <p:cNvPr id="1" name=""/>
        <p:cNvGrpSpPr/>
        <p:nvPr/>
      </p:nvGrpSpPr>
      <p:grpSpPr>
        <a:xfrm>
          <a:off x="0" y="0"/>
          <a:ext cx="0" cy="0"/>
          <a:chOff x="0" y="0"/>
          <a:chExt cx="0" cy="0"/>
        </a:xfrm>
      </p:grpSpPr>
      <p:sp>
        <p:nvSpPr>
          <p:cNvPr id="2" name="Rounded Rectangle 1"/>
          <p:cNvSpPr/>
          <p:nvPr/>
        </p:nvSpPr>
        <p:spPr>
          <a:xfrm>
            <a:off x="530352" y="640080"/>
            <a:ext cx="2423160" cy="402336"/>
          </a:xfrm>
          <a:prstGeom prst="roundRect">
            <a:avLst/>
          </a:prstGeom>
          <a:solidFill>
            <a:srgbClr val="174A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731520"/>
            <a:ext cx="2926080" cy="261610"/>
          </a:xfrm>
          <a:prstGeom prst="rect">
            <a:avLst/>
          </a:prstGeom>
          <a:noFill/>
        </p:spPr>
        <p:txBody>
          <a:bodyPr wrap="square">
            <a:spAutoFit/>
          </a:bodyPr>
          <a:lstStyle/>
          <a:p>
            <a:pPr>
              <a:spcAft>
                <a:spcPts val="700"/>
              </a:spcAft>
              <a:defRPr sz="1100" b="1">
                <a:solidFill>
                  <a:srgbClr val="FFFFFF"/>
                </a:solidFill>
                <a:latin typeface="Aptos"/>
              </a:defRPr>
            </a:pPr>
            <a:r>
              <a:rPr dirty="0"/>
              <a:t>DATA ANALYS</a:t>
            </a:r>
            <a:r>
              <a:rPr lang="en-US" dirty="0"/>
              <a:t>T</a:t>
            </a:r>
            <a:r>
              <a:rPr dirty="0"/>
              <a:t> PORTFOLIO</a:t>
            </a:r>
          </a:p>
        </p:txBody>
      </p:sp>
      <p:sp>
        <p:nvSpPr>
          <p:cNvPr id="4" name="TextBox 3"/>
          <p:cNvSpPr txBox="1"/>
          <p:nvPr/>
        </p:nvSpPr>
        <p:spPr>
          <a:xfrm>
            <a:off x="594360" y="2168295"/>
            <a:ext cx="8046720" cy="2240280"/>
          </a:xfrm>
          <a:prstGeom prst="rect">
            <a:avLst/>
          </a:prstGeom>
          <a:noFill/>
        </p:spPr>
        <p:txBody>
          <a:bodyPr wrap="square">
            <a:spAutoFit/>
          </a:bodyPr>
          <a:lstStyle/>
          <a:p>
            <a:pPr>
              <a:spcAft>
                <a:spcPts val="700"/>
              </a:spcAft>
              <a:defRPr sz="4000" b="1">
                <a:solidFill>
                  <a:srgbClr val="FFFFFF"/>
                </a:solidFill>
                <a:latin typeface="Aptos"/>
              </a:defRPr>
            </a:pPr>
            <a:r>
              <a:rPr dirty="0"/>
              <a:t>BIKE STORE</a:t>
            </a:r>
          </a:p>
          <a:p>
            <a:pPr>
              <a:spcAft>
                <a:spcPts val="700"/>
              </a:spcAft>
              <a:defRPr sz="4000" b="1">
                <a:solidFill>
                  <a:srgbClr val="FFFFFF"/>
                </a:solidFill>
                <a:latin typeface="Aptos"/>
              </a:defRPr>
            </a:pPr>
            <a:r>
              <a:rPr dirty="0"/>
              <a:t>SALES ANALYSIS</a:t>
            </a:r>
          </a:p>
        </p:txBody>
      </p:sp>
      <p:sp>
        <p:nvSpPr>
          <p:cNvPr id="5" name="TextBox 4"/>
          <p:cNvSpPr txBox="1"/>
          <p:nvPr/>
        </p:nvSpPr>
        <p:spPr>
          <a:xfrm>
            <a:off x="640080" y="4278170"/>
            <a:ext cx="7498079" cy="1188720"/>
          </a:xfrm>
          <a:prstGeom prst="rect">
            <a:avLst/>
          </a:prstGeom>
          <a:noFill/>
        </p:spPr>
        <p:txBody>
          <a:bodyPr wrap="square">
            <a:spAutoFit/>
          </a:bodyPr>
          <a:lstStyle/>
          <a:p>
            <a:pPr>
              <a:spcAft>
                <a:spcPts val="700"/>
              </a:spcAft>
              <a:defRPr sz="2200" b="0">
                <a:solidFill>
                  <a:srgbClr val="C4E2FF"/>
                </a:solidFill>
                <a:latin typeface="Aptos"/>
              </a:defRPr>
            </a:pPr>
            <a:r>
              <a:rPr dirty="0"/>
              <a:t>From SQL Analysis to an Interactive</a:t>
            </a:r>
          </a:p>
          <a:p>
            <a:pPr>
              <a:spcAft>
                <a:spcPts val="700"/>
              </a:spcAft>
              <a:defRPr sz="2200" b="0">
                <a:solidFill>
                  <a:srgbClr val="C4E2FF"/>
                </a:solidFill>
                <a:latin typeface="Aptos"/>
              </a:defRPr>
            </a:pPr>
            <a:r>
              <a:rPr dirty="0"/>
              <a:t>Looker Studio Dashboard</a:t>
            </a:r>
          </a:p>
        </p:txBody>
      </p:sp>
      <p:sp>
        <p:nvSpPr>
          <p:cNvPr id="6" name="Rounded Rectangle 5"/>
          <p:cNvSpPr/>
          <p:nvPr/>
        </p:nvSpPr>
        <p:spPr>
          <a:xfrm>
            <a:off x="640080" y="6995160"/>
            <a:ext cx="3657600" cy="914400"/>
          </a:xfrm>
          <a:prstGeom prst="roundRect">
            <a:avLst/>
          </a:prstGeom>
          <a:solidFill>
            <a:srgbClr val="164C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8" y="7287768"/>
            <a:ext cx="3383280" cy="320040"/>
          </a:xfrm>
          <a:prstGeom prst="rect">
            <a:avLst/>
          </a:prstGeom>
          <a:noFill/>
        </p:spPr>
        <p:txBody>
          <a:bodyPr wrap="square">
            <a:spAutoFit/>
          </a:bodyPr>
          <a:lstStyle/>
          <a:p>
            <a:pPr>
              <a:spcAft>
                <a:spcPts val="700"/>
              </a:spcAft>
              <a:defRPr sz="1700" b="1">
                <a:solidFill>
                  <a:srgbClr val="FFFFFF"/>
                </a:solidFill>
                <a:latin typeface="Aptos"/>
              </a:defRPr>
            </a:pPr>
            <a:r>
              <a:t>SQL SERVER  ×  LOOKER STUDIO</a:t>
            </a:r>
          </a:p>
        </p:txBody>
      </p:sp>
      <p:sp>
        <p:nvSpPr>
          <p:cNvPr id="8" name="TextBox 7"/>
          <p:cNvSpPr txBox="1"/>
          <p:nvPr/>
        </p:nvSpPr>
        <p:spPr>
          <a:xfrm>
            <a:off x="658368" y="8686800"/>
            <a:ext cx="7772400" cy="1097280"/>
          </a:xfrm>
          <a:prstGeom prst="rect">
            <a:avLst/>
          </a:prstGeom>
          <a:noFill/>
        </p:spPr>
        <p:txBody>
          <a:bodyPr wrap="square">
            <a:spAutoFit/>
          </a:bodyPr>
          <a:lstStyle/>
          <a:p>
            <a:pPr>
              <a:spcAft>
                <a:spcPts val="700"/>
              </a:spcAft>
              <a:defRPr sz="1700" b="0">
                <a:solidFill>
                  <a:srgbClr val="FFFFFF"/>
                </a:solidFill>
                <a:latin typeface="Aptos"/>
              </a:defRPr>
            </a:pPr>
            <a:r>
              <a:t>Exploring sales trends, product performance,</a:t>
            </a:r>
          </a:p>
          <a:p>
            <a:pPr>
              <a:spcAft>
                <a:spcPts val="700"/>
              </a:spcAft>
              <a:defRPr sz="1700" b="0">
                <a:solidFill>
                  <a:srgbClr val="FFFFFF"/>
                </a:solidFill>
                <a:latin typeface="Aptos"/>
              </a:defRPr>
            </a:pPr>
            <a:r>
              <a:t>store contributions, and business opportunities.</a:t>
            </a:r>
          </a:p>
        </p:txBody>
      </p:sp>
      <p:sp>
        <p:nvSpPr>
          <p:cNvPr id="9" name="TextBox 8"/>
          <p:cNvSpPr txBox="1"/>
          <p:nvPr/>
        </p:nvSpPr>
        <p:spPr>
          <a:xfrm>
            <a:off x="658368" y="10561320"/>
            <a:ext cx="5486400" cy="457200"/>
          </a:xfrm>
          <a:prstGeom prst="rect">
            <a:avLst/>
          </a:prstGeom>
          <a:noFill/>
        </p:spPr>
        <p:txBody>
          <a:bodyPr wrap="square">
            <a:spAutoFit/>
          </a:bodyPr>
          <a:lstStyle/>
          <a:p>
            <a:pPr>
              <a:spcAft>
                <a:spcPts val="700"/>
              </a:spcAft>
              <a:defRPr sz="1600" b="1">
                <a:solidFill>
                  <a:srgbClr val="FFFFFF"/>
                </a:solidFill>
                <a:latin typeface="Aptos"/>
              </a:defRPr>
            </a:pPr>
            <a:r>
              <a:t>DELIA DWI ANJANI</a:t>
            </a:r>
          </a:p>
        </p:txBody>
      </p:sp>
      <p:sp>
        <p:nvSpPr>
          <p:cNvPr id="10" name="TextBox 9"/>
          <p:cNvSpPr txBox="1"/>
          <p:nvPr/>
        </p:nvSpPr>
        <p:spPr>
          <a:xfrm>
            <a:off x="7863840" y="10652760"/>
            <a:ext cx="731520" cy="274320"/>
          </a:xfrm>
          <a:prstGeom prst="rect">
            <a:avLst/>
          </a:prstGeom>
          <a:noFill/>
        </p:spPr>
        <p:txBody>
          <a:bodyPr wrap="square">
            <a:spAutoFit/>
          </a:bodyPr>
          <a:lstStyle/>
          <a:p>
            <a:pPr>
              <a:spcAft>
                <a:spcPts val="700"/>
              </a:spcAft>
              <a:defRPr sz="1000" b="0">
                <a:solidFill>
                  <a:srgbClr val="FFFFFF"/>
                </a:solidFill>
                <a:latin typeface="Aptos"/>
              </a:defRPr>
            </a:pPr>
            <a:r>
              <a:t>01 / 08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E"/>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46304"/>
          </a:xfrm>
          <a:prstGeom prst="rect">
            <a:avLst/>
          </a:prstGeom>
          <a:solidFill>
            <a:srgbClr val="1675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9184"/>
            <a:ext cx="7315200" cy="274320"/>
          </a:xfrm>
          <a:prstGeom prst="rect">
            <a:avLst/>
          </a:prstGeom>
          <a:noFill/>
        </p:spPr>
        <p:txBody>
          <a:bodyPr wrap="square">
            <a:spAutoFit/>
          </a:bodyPr>
          <a:lstStyle/>
          <a:p>
            <a:pPr>
              <a:spcAft>
                <a:spcPts val="700"/>
              </a:spcAft>
              <a:defRPr sz="1000" b="1">
                <a:solidFill>
                  <a:srgbClr val="1675D1"/>
                </a:solidFill>
                <a:latin typeface="Aptos"/>
              </a:defRPr>
            </a:pPr>
            <a:r>
              <a:t>DATA ANALYTICS PORTFOLIO  /  BIKE STORE</a:t>
            </a:r>
          </a:p>
        </p:txBody>
      </p:sp>
      <p:sp>
        <p:nvSpPr>
          <p:cNvPr id="4" name="TextBox 3"/>
          <p:cNvSpPr txBox="1"/>
          <p:nvPr/>
        </p:nvSpPr>
        <p:spPr>
          <a:xfrm>
            <a:off x="502920" y="859536"/>
            <a:ext cx="8138160" cy="731520"/>
          </a:xfrm>
          <a:prstGeom prst="rect">
            <a:avLst/>
          </a:prstGeom>
          <a:noFill/>
        </p:spPr>
        <p:txBody>
          <a:bodyPr wrap="square">
            <a:spAutoFit/>
          </a:bodyPr>
          <a:lstStyle/>
          <a:p>
            <a:pPr>
              <a:spcAft>
                <a:spcPts val="700"/>
              </a:spcAft>
              <a:defRPr sz="3000" b="1">
                <a:solidFill>
                  <a:srgbClr val="102C50"/>
                </a:solidFill>
                <a:latin typeface="Aptos"/>
              </a:defRPr>
            </a:pPr>
            <a:r>
              <a:t>Project Overview</a:t>
            </a:r>
          </a:p>
        </p:txBody>
      </p:sp>
      <p:sp>
        <p:nvSpPr>
          <p:cNvPr id="5" name="TextBox 4"/>
          <p:cNvSpPr txBox="1"/>
          <p:nvPr/>
        </p:nvSpPr>
        <p:spPr>
          <a:xfrm>
            <a:off x="521207" y="1673352"/>
            <a:ext cx="8138160" cy="640080"/>
          </a:xfrm>
          <a:prstGeom prst="rect">
            <a:avLst/>
          </a:prstGeom>
          <a:noFill/>
        </p:spPr>
        <p:txBody>
          <a:bodyPr wrap="square">
            <a:spAutoFit/>
          </a:bodyPr>
          <a:lstStyle/>
          <a:p>
            <a:pPr>
              <a:spcAft>
                <a:spcPts val="700"/>
              </a:spcAft>
              <a:defRPr sz="1300" b="0">
                <a:solidFill>
                  <a:srgbClr val="64748B"/>
                </a:solidFill>
                <a:latin typeface="Aptos"/>
              </a:defRPr>
            </a:pPr>
            <a:r>
              <a:t>Understanding the business context and the analytical objectives.</a:t>
            </a:r>
          </a:p>
        </p:txBody>
      </p:sp>
      <p:sp>
        <p:nvSpPr>
          <p:cNvPr id="6" name="TextBox 5"/>
          <p:cNvSpPr txBox="1"/>
          <p:nvPr/>
        </p:nvSpPr>
        <p:spPr>
          <a:xfrm>
            <a:off x="7909560" y="10991088"/>
            <a:ext cx="731520" cy="228600"/>
          </a:xfrm>
          <a:prstGeom prst="rect">
            <a:avLst/>
          </a:prstGeom>
          <a:noFill/>
        </p:spPr>
        <p:txBody>
          <a:bodyPr wrap="square">
            <a:spAutoFit/>
          </a:bodyPr>
          <a:lstStyle/>
          <a:p>
            <a:pPr>
              <a:spcAft>
                <a:spcPts val="700"/>
              </a:spcAft>
              <a:defRPr sz="1000" b="1">
                <a:solidFill>
                  <a:srgbClr val="64748B"/>
                </a:solidFill>
                <a:latin typeface="Aptos"/>
              </a:defRPr>
            </a:pPr>
            <a:r>
              <a:t>02 / 08</a:t>
            </a:r>
          </a:p>
        </p:txBody>
      </p:sp>
      <p:sp>
        <p:nvSpPr>
          <p:cNvPr id="7" name="Rounded Rectangle 6"/>
          <p:cNvSpPr/>
          <p:nvPr/>
        </p:nvSpPr>
        <p:spPr>
          <a:xfrm>
            <a:off x="502920" y="2276856"/>
            <a:ext cx="8138160" cy="2020823"/>
          </a:xfrm>
          <a:prstGeom prst="roundRect">
            <a:avLst/>
          </a:prstGeom>
          <a:solidFill>
            <a:srgbClr val="FFFFFF"/>
          </a:solidFill>
          <a:ln>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 y="2429259"/>
            <a:ext cx="7680960" cy="365760"/>
          </a:xfrm>
          <a:prstGeom prst="rect">
            <a:avLst/>
          </a:prstGeom>
          <a:noFill/>
        </p:spPr>
        <p:txBody>
          <a:bodyPr wrap="square">
            <a:spAutoFit/>
          </a:bodyPr>
          <a:lstStyle/>
          <a:p>
            <a:pPr>
              <a:spcAft>
                <a:spcPts val="700"/>
              </a:spcAft>
              <a:defRPr sz="1700" b="1">
                <a:solidFill>
                  <a:srgbClr val="102C50"/>
                </a:solidFill>
                <a:latin typeface="Aptos"/>
              </a:defRPr>
            </a:pPr>
            <a:r>
              <a:rPr dirty="0"/>
              <a:t>BUSINESS BACKGROUND</a:t>
            </a:r>
          </a:p>
        </p:txBody>
      </p:sp>
      <p:sp>
        <p:nvSpPr>
          <p:cNvPr id="10" name="Rounded Rectangle 9"/>
          <p:cNvSpPr/>
          <p:nvPr/>
        </p:nvSpPr>
        <p:spPr>
          <a:xfrm>
            <a:off x="502920" y="4535424"/>
            <a:ext cx="8138160" cy="2286000"/>
          </a:xfrm>
          <a:prstGeom prst="roundRect">
            <a:avLst/>
          </a:prstGeom>
          <a:solidFill>
            <a:srgbClr val="FFFFFF"/>
          </a:solidFill>
          <a:ln>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4700016"/>
            <a:ext cx="7680960" cy="365760"/>
          </a:xfrm>
          <a:prstGeom prst="rect">
            <a:avLst/>
          </a:prstGeom>
          <a:noFill/>
        </p:spPr>
        <p:txBody>
          <a:bodyPr wrap="square">
            <a:spAutoFit/>
          </a:bodyPr>
          <a:lstStyle/>
          <a:p>
            <a:pPr>
              <a:spcAft>
                <a:spcPts val="700"/>
              </a:spcAft>
              <a:defRPr sz="1700" b="1">
                <a:solidFill>
                  <a:srgbClr val="102C50"/>
                </a:solidFill>
                <a:latin typeface="Aptos"/>
              </a:defRPr>
            </a:pPr>
            <a:r>
              <a:t>BUSINESS QUESTIONS</a:t>
            </a:r>
          </a:p>
        </p:txBody>
      </p:sp>
      <p:sp>
        <p:nvSpPr>
          <p:cNvPr id="12" name="TextBox 11"/>
          <p:cNvSpPr txBox="1"/>
          <p:nvPr/>
        </p:nvSpPr>
        <p:spPr>
          <a:xfrm>
            <a:off x="731520" y="5078843"/>
            <a:ext cx="7680960" cy="954107"/>
          </a:xfrm>
          <a:prstGeom prst="rect">
            <a:avLst/>
          </a:prstGeom>
          <a:noFill/>
        </p:spPr>
        <p:txBody>
          <a:bodyPr wrap="square">
            <a:spAutoFit/>
          </a:bodyPr>
          <a:lstStyle/>
          <a:p>
            <a:pPr marL="342900" lvl="0" indent="-342900" algn="just">
              <a:buFont typeface="+mj-lt"/>
              <a:buAutoNum type="arabicPeriod"/>
            </a:pPr>
            <a:r>
              <a:rPr lang="en-ID" sz="1400" dirty="0" err="1">
                <a:solidFill>
                  <a:schemeClr val="tx1">
                    <a:lumMod val="50000"/>
                    <a:lumOff val="50000"/>
                  </a:schemeClr>
                </a:solidFill>
              </a:rPr>
              <a:t>Bagaimana</a:t>
            </a:r>
            <a:r>
              <a:rPr lang="en-ID" sz="1400" dirty="0">
                <a:solidFill>
                  <a:schemeClr val="tx1">
                    <a:lumMod val="50000"/>
                    <a:lumOff val="50000"/>
                  </a:schemeClr>
                </a:solidFill>
              </a:rPr>
              <a:t> </a:t>
            </a:r>
            <a:r>
              <a:rPr lang="en-ID" sz="1400" dirty="0" err="1">
                <a:solidFill>
                  <a:schemeClr val="tx1">
                    <a:lumMod val="50000"/>
                    <a:lumOff val="50000"/>
                  </a:schemeClr>
                </a:solidFill>
              </a:rPr>
              <a:t>tren</a:t>
            </a:r>
            <a:r>
              <a:rPr lang="en-ID" sz="1400" dirty="0">
                <a:solidFill>
                  <a:schemeClr val="tx1">
                    <a:lumMod val="50000"/>
                    <a:lumOff val="50000"/>
                  </a:schemeClr>
                </a:solidFill>
              </a:rPr>
              <a:t> </a:t>
            </a:r>
            <a:r>
              <a:rPr lang="en-ID" sz="1400" dirty="0" err="1">
                <a:solidFill>
                  <a:schemeClr val="tx1">
                    <a:lumMod val="50000"/>
                    <a:lumOff val="50000"/>
                  </a:schemeClr>
                </a:solidFill>
              </a:rPr>
              <a:t>penjualan</a:t>
            </a:r>
            <a:r>
              <a:rPr lang="en-ID" sz="1400" dirty="0">
                <a:solidFill>
                  <a:schemeClr val="tx1">
                    <a:lumMod val="50000"/>
                    <a:lumOff val="50000"/>
                  </a:schemeClr>
                </a:solidFill>
              </a:rPr>
              <a:t> </a:t>
            </a:r>
            <a:r>
              <a:rPr lang="en-ID" sz="1400" dirty="0" err="1">
                <a:solidFill>
                  <a:schemeClr val="tx1">
                    <a:lumMod val="50000"/>
                    <a:lumOff val="50000"/>
                  </a:schemeClr>
                </a:solidFill>
              </a:rPr>
              <a:t>berubah</a:t>
            </a:r>
            <a:r>
              <a:rPr lang="en-ID" sz="1400" dirty="0">
                <a:solidFill>
                  <a:schemeClr val="tx1">
                    <a:lumMod val="50000"/>
                    <a:lumOff val="50000"/>
                  </a:schemeClr>
                </a:solidFill>
              </a:rPr>
              <a:t> </a:t>
            </a:r>
            <a:r>
              <a:rPr lang="en-ID" sz="1400" dirty="0" err="1">
                <a:solidFill>
                  <a:schemeClr val="tx1">
                    <a:lumMod val="50000"/>
                    <a:lumOff val="50000"/>
                  </a:schemeClr>
                </a:solidFill>
              </a:rPr>
              <a:t>dari</a:t>
            </a:r>
            <a:r>
              <a:rPr lang="en-ID" sz="1400" dirty="0">
                <a:solidFill>
                  <a:schemeClr val="tx1">
                    <a:lumMod val="50000"/>
                    <a:lumOff val="50000"/>
                  </a:schemeClr>
                </a:solidFill>
              </a:rPr>
              <a:t> </a:t>
            </a:r>
            <a:r>
              <a:rPr lang="en-ID" sz="1400" dirty="0" err="1">
                <a:solidFill>
                  <a:schemeClr val="tx1">
                    <a:lumMod val="50000"/>
                    <a:lumOff val="50000"/>
                  </a:schemeClr>
                </a:solidFill>
              </a:rPr>
              <a:t>waktu</a:t>
            </a:r>
            <a:r>
              <a:rPr lang="en-ID" sz="1400" dirty="0">
                <a:solidFill>
                  <a:schemeClr val="tx1">
                    <a:lumMod val="50000"/>
                    <a:lumOff val="50000"/>
                  </a:schemeClr>
                </a:solidFill>
              </a:rPr>
              <a:t> </a:t>
            </a:r>
            <a:r>
              <a:rPr lang="en-ID" sz="1400" dirty="0" err="1">
                <a:solidFill>
                  <a:schemeClr val="tx1">
                    <a:lumMod val="50000"/>
                    <a:lumOff val="50000"/>
                  </a:schemeClr>
                </a:solidFill>
              </a:rPr>
              <a:t>ke</a:t>
            </a:r>
            <a:r>
              <a:rPr lang="en-ID" sz="1400" dirty="0">
                <a:solidFill>
                  <a:schemeClr val="tx1">
                    <a:lumMod val="50000"/>
                    <a:lumOff val="50000"/>
                  </a:schemeClr>
                </a:solidFill>
              </a:rPr>
              <a:t> </a:t>
            </a:r>
            <a:r>
              <a:rPr lang="en-ID" sz="1400" dirty="0" err="1">
                <a:solidFill>
                  <a:schemeClr val="tx1">
                    <a:lumMod val="50000"/>
                    <a:lumOff val="50000"/>
                  </a:schemeClr>
                </a:solidFill>
              </a:rPr>
              <a:t>waktu</a:t>
            </a:r>
            <a:r>
              <a:rPr lang="en-ID" sz="1400" dirty="0">
                <a:solidFill>
                  <a:schemeClr val="tx1">
                    <a:lumMod val="50000"/>
                    <a:lumOff val="50000"/>
                  </a:schemeClr>
                </a:solidFill>
              </a:rPr>
              <a:t>?</a:t>
            </a:r>
          </a:p>
          <a:p>
            <a:pPr marL="342900" lvl="0" indent="-342900" algn="just">
              <a:buFont typeface="+mj-lt"/>
              <a:buAutoNum type="arabicPeriod"/>
            </a:pPr>
            <a:r>
              <a:rPr lang="en-ID" sz="1400" dirty="0" err="1">
                <a:solidFill>
                  <a:schemeClr val="tx1">
                    <a:lumMod val="50000"/>
                    <a:lumOff val="50000"/>
                  </a:schemeClr>
                </a:solidFill>
              </a:rPr>
              <a:t>Kategori</a:t>
            </a:r>
            <a:r>
              <a:rPr lang="en-ID" sz="1400" dirty="0">
                <a:solidFill>
                  <a:schemeClr val="tx1">
                    <a:lumMod val="50000"/>
                    <a:lumOff val="50000"/>
                  </a:schemeClr>
                </a:solidFill>
              </a:rPr>
              <a:t> dan </a:t>
            </a:r>
            <a:r>
              <a:rPr lang="en-ID" sz="1400" dirty="0" err="1">
                <a:solidFill>
                  <a:schemeClr val="tx1">
                    <a:lumMod val="50000"/>
                    <a:lumOff val="50000"/>
                  </a:schemeClr>
                </a:solidFill>
              </a:rPr>
              <a:t>produk</a:t>
            </a:r>
            <a:r>
              <a:rPr lang="en-ID" sz="1400" dirty="0">
                <a:solidFill>
                  <a:schemeClr val="tx1">
                    <a:lumMod val="50000"/>
                    <a:lumOff val="50000"/>
                  </a:schemeClr>
                </a:solidFill>
              </a:rPr>
              <a:t> </a:t>
            </a:r>
            <a:r>
              <a:rPr lang="en-ID" sz="1400" dirty="0" err="1">
                <a:solidFill>
                  <a:schemeClr val="tx1">
                    <a:lumMod val="50000"/>
                    <a:lumOff val="50000"/>
                  </a:schemeClr>
                </a:solidFill>
              </a:rPr>
              <a:t>apa</a:t>
            </a:r>
            <a:r>
              <a:rPr lang="en-ID" sz="1400" dirty="0">
                <a:solidFill>
                  <a:schemeClr val="tx1">
                    <a:lumMod val="50000"/>
                    <a:lumOff val="50000"/>
                  </a:schemeClr>
                </a:solidFill>
              </a:rPr>
              <a:t> yang </a:t>
            </a:r>
            <a:r>
              <a:rPr lang="en-ID" sz="1400" dirty="0" err="1">
                <a:solidFill>
                  <a:schemeClr val="tx1">
                    <a:lumMod val="50000"/>
                    <a:lumOff val="50000"/>
                  </a:schemeClr>
                </a:solidFill>
              </a:rPr>
              <a:t>memberikan</a:t>
            </a:r>
            <a:r>
              <a:rPr lang="en-ID" sz="1400" dirty="0">
                <a:solidFill>
                  <a:schemeClr val="tx1">
                    <a:lumMod val="50000"/>
                    <a:lumOff val="50000"/>
                  </a:schemeClr>
                </a:solidFill>
              </a:rPr>
              <a:t> </a:t>
            </a:r>
            <a:r>
              <a:rPr lang="en-ID" sz="1400" dirty="0" err="1">
                <a:solidFill>
                  <a:schemeClr val="tx1">
                    <a:lumMod val="50000"/>
                    <a:lumOff val="50000"/>
                  </a:schemeClr>
                </a:solidFill>
              </a:rPr>
              <a:t>kontribusi</a:t>
            </a:r>
            <a:r>
              <a:rPr lang="en-ID" sz="1400" dirty="0">
                <a:solidFill>
                  <a:schemeClr val="tx1">
                    <a:lumMod val="50000"/>
                    <a:lumOff val="50000"/>
                  </a:schemeClr>
                </a:solidFill>
              </a:rPr>
              <a:t> </a:t>
            </a:r>
            <a:r>
              <a:rPr lang="en-ID" sz="1400" dirty="0" err="1">
                <a:solidFill>
                  <a:schemeClr val="tx1">
                    <a:lumMod val="50000"/>
                    <a:lumOff val="50000"/>
                  </a:schemeClr>
                </a:solidFill>
              </a:rPr>
              <a:t>pendapatan</a:t>
            </a:r>
            <a:r>
              <a:rPr lang="en-ID" sz="1400" dirty="0">
                <a:solidFill>
                  <a:schemeClr val="tx1">
                    <a:lumMod val="50000"/>
                    <a:lumOff val="50000"/>
                  </a:schemeClr>
                </a:solidFill>
              </a:rPr>
              <a:t> </a:t>
            </a:r>
            <a:r>
              <a:rPr lang="en-ID" sz="1400" dirty="0" err="1">
                <a:solidFill>
                  <a:schemeClr val="tx1">
                    <a:lumMod val="50000"/>
                    <a:lumOff val="50000"/>
                  </a:schemeClr>
                </a:solidFill>
              </a:rPr>
              <a:t>terbesar</a:t>
            </a:r>
            <a:r>
              <a:rPr lang="en-ID" sz="1400" dirty="0">
                <a:solidFill>
                  <a:schemeClr val="tx1">
                    <a:lumMod val="50000"/>
                    <a:lumOff val="50000"/>
                  </a:schemeClr>
                </a:solidFill>
              </a:rPr>
              <a:t>?</a:t>
            </a:r>
          </a:p>
          <a:p>
            <a:pPr marL="342900" lvl="0" indent="-342900" algn="just">
              <a:buFont typeface="+mj-lt"/>
              <a:buAutoNum type="arabicPeriod"/>
            </a:pPr>
            <a:r>
              <a:rPr lang="en-ID" sz="1400" dirty="0">
                <a:solidFill>
                  <a:schemeClr val="tx1">
                    <a:lumMod val="50000"/>
                    <a:lumOff val="50000"/>
                  </a:schemeClr>
                </a:solidFill>
              </a:rPr>
              <a:t>Toko mana yang </a:t>
            </a:r>
            <a:r>
              <a:rPr lang="en-ID" sz="1400" dirty="0" err="1">
                <a:solidFill>
                  <a:schemeClr val="tx1">
                    <a:lumMod val="50000"/>
                    <a:lumOff val="50000"/>
                  </a:schemeClr>
                </a:solidFill>
              </a:rPr>
              <a:t>memiliki</a:t>
            </a:r>
            <a:r>
              <a:rPr lang="en-ID" sz="1400" dirty="0">
                <a:solidFill>
                  <a:schemeClr val="tx1">
                    <a:lumMod val="50000"/>
                    <a:lumOff val="50000"/>
                  </a:schemeClr>
                </a:solidFill>
              </a:rPr>
              <a:t> </a:t>
            </a:r>
            <a:r>
              <a:rPr lang="en-ID" sz="1400" dirty="0" err="1">
                <a:solidFill>
                  <a:schemeClr val="tx1">
                    <a:lumMod val="50000"/>
                    <a:lumOff val="50000"/>
                  </a:schemeClr>
                </a:solidFill>
              </a:rPr>
              <a:t>performa</a:t>
            </a:r>
            <a:r>
              <a:rPr lang="en-ID" sz="1400" dirty="0">
                <a:solidFill>
                  <a:schemeClr val="tx1">
                    <a:lumMod val="50000"/>
                    <a:lumOff val="50000"/>
                  </a:schemeClr>
                </a:solidFill>
              </a:rPr>
              <a:t> </a:t>
            </a:r>
            <a:r>
              <a:rPr lang="en-ID" sz="1400" dirty="0" err="1">
                <a:solidFill>
                  <a:schemeClr val="tx1">
                    <a:lumMod val="50000"/>
                    <a:lumOff val="50000"/>
                  </a:schemeClr>
                </a:solidFill>
              </a:rPr>
              <a:t>penjualan</a:t>
            </a:r>
            <a:r>
              <a:rPr lang="en-ID" sz="1400" dirty="0">
                <a:solidFill>
                  <a:schemeClr val="tx1">
                    <a:lumMod val="50000"/>
                    <a:lumOff val="50000"/>
                  </a:schemeClr>
                </a:solidFill>
              </a:rPr>
              <a:t> </a:t>
            </a:r>
            <a:r>
              <a:rPr lang="en-ID" sz="1400" dirty="0" err="1">
                <a:solidFill>
                  <a:schemeClr val="tx1">
                    <a:lumMod val="50000"/>
                    <a:lumOff val="50000"/>
                  </a:schemeClr>
                </a:solidFill>
              </a:rPr>
              <a:t>terbaik</a:t>
            </a:r>
            <a:r>
              <a:rPr lang="en-ID" sz="1400" dirty="0">
                <a:solidFill>
                  <a:schemeClr val="tx1">
                    <a:lumMod val="50000"/>
                    <a:lumOff val="50000"/>
                  </a:schemeClr>
                </a:solidFill>
              </a:rPr>
              <a:t>?</a:t>
            </a:r>
          </a:p>
          <a:p>
            <a:pPr marL="342900" lvl="0" indent="-342900" algn="just">
              <a:buFont typeface="+mj-lt"/>
              <a:buAutoNum type="arabicPeriod"/>
            </a:pPr>
            <a:r>
              <a:rPr lang="en-ID" sz="1400" dirty="0" err="1">
                <a:solidFill>
                  <a:schemeClr val="tx1">
                    <a:lumMod val="50000"/>
                    <a:lumOff val="50000"/>
                  </a:schemeClr>
                </a:solidFill>
              </a:rPr>
              <a:t>Bagaimana</a:t>
            </a:r>
            <a:r>
              <a:rPr lang="en-ID" sz="1400" dirty="0">
                <a:solidFill>
                  <a:schemeClr val="tx1">
                    <a:lumMod val="50000"/>
                    <a:lumOff val="50000"/>
                  </a:schemeClr>
                </a:solidFill>
              </a:rPr>
              <a:t> </a:t>
            </a:r>
            <a:r>
              <a:rPr lang="en-ID" sz="1400" dirty="0" err="1">
                <a:solidFill>
                  <a:schemeClr val="tx1">
                    <a:lumMod val="50000"/>
                    <a:lumOff val="50000"/>
                  </a:schemeClr>
                </a:solidFill>
              </a:rPr>
              <a:t>pola</a:t>
            </a:r>
            <a:r>
              <a:rPr lang="en-ID" sz="1400" dirty="0">
                <a:solidFill>
                  <a:schemeClr val="tx1">
                    <a:lumMod val="50000"/>
                    <a:lumOff val="50000"/>
                  </a:schemeClr>
                </a:solidFill>
              </a:rPr>
              <a:t> </a:t>
            </a:r>
            <a:r>
              <a:rPr lang="en-ID" sz="1400" dirty="0" err="1">
                <a:solidFill>
                  <a:schemeClr val="tx1">
                    <a:lumMod val="50000"/>
                    <a:lumOff val="50000"/>
                  </a:schemeClr>
                </a:solidFill>
              </a:rPr>
              <a:t>pembelian</a:t>
            </a:r>
            <a:r>
              <a:rPr lang="en-ID" sz="1400" dirty="0">
                <a:solidFill>
                  <a:schemeClr val="tx1">
                    <a:lumMod val="50000"/>
                    <a:lumOff val="50000"/>
                  </a:schemeClr>
                </a:solidFill>
              </a:rPr>
              <a:t> </a:t>
            </a:r>
            <a:r>
              <a:rPr lang="en-ID" sz="1400" dirty="0" err="1">
                <a:solidFill>
                  <a:schemeClr val="tx1">
                    <a:lumMod val="50000"/>
                    <a:lumOff val="50000"/>
                  </a:schemeClr>
                </a:solidFill>
              </a:rPr>
              <a:t>pelanggan</a:t>
            </a:r>
            <a:r>
              <a:rPr lang="en-ID" sz="1400" dirty="0">
                <a:solidFill>
                  <a:schemeClr val="tx1">
                    <a:lumMod val="50000"/>
                    <a:lumOff val="50000"/>
                  </a:schemeClr>
                </a:solidFill>
              </a:rPr>
              <a:t>?</a:t>
            </a:r>
          </a:p>
        </p:txBody>
      </p:sp>
      <p:sp>
        <p:nvSpPr>
          <p:cNvPr id="13" name="Rounded Rectangle 12"/>
          <p:cNvSpPr/>
          <p:nvPr/>
        </p:nvSpPr>
        <p:spPr>
          <a:xfrm>
            <a:off x="502920" y="7086600"/>
            <a:ext cx="8138160" cy="1965960"/>
          </a:xfrm>
          <a:prstGeom prst="roundRect">
            <a:avLst/>
          </a:prstGeom>
          <a:solidFill>
            <a:srgbClr val="FFFFFF"/>
          </a:solidFill>
          <a:ln>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7251192"/>
            <a:ext cx="7680960" cy="365760"/>
          </a:xfrm>
          <a:prstGeom prst="rect">
            <a:avLst/>
          </a:prstGeom>
          <a:noFill/>
        </p:spPr>
        <p:txBody>
          <a:bodyPr wrap="square">
            <a:spAutoFit/>
          </a:bodyPr>
          <a:lstStyle/>
          <a:p>
            <a:pPr>
              <a:spcAft>
                <a:spcPts val="700"/>
              </a:spcAft>
              <a:defRPr sz="1700" b="1">
                <a:solidFill>
                  <a:srgbClr val="102C50"/>
                </a:solidFill>
                <a:latin typeface="Aptos"/>
              </a:defRPr>
            </a:pPr>
            <a:r>
              <a:t>OBJECTIVE</a:t>
            </a:r>
          </a:p>
        </p:txBody>
      </p:sp>
      <p:sp>
        <p:nvSpPr>
          <p:cNvPr id="15" name="TextBox 14"/>
          <p:cNvSpPr txBox="1"/>
          <p:nvPr/>
        </p:nvSpPr>
        <p:spPr>
          <a:xfrm>
            <a:off x="731520" y="7703229"/>
            <a:ext cx="7680960" cy="1564531"/>
          </a:xfrm>
          <a:prstGeom prst="rect">
            <a:avLst/>
          </a:prstGeom>
          <a:noFill/>
        </p:spPr>
        <p:txBody>
          <a:bodyPr wrap="square">
            <a:spAutoFit/>
          </a:bodyPr>
          <a:lstStyle/>
          <a:p>
            <a:pPr>
              <a:spcAft>
                <a:spcPts val="700"/>
              </a:spcAft>
              <a:defRPr sz="1400" b="0">
                <a:solidFill>
                  <a:srgbClr val="64748B"/>
                </a:solidFill>
                <a:latin typeface="Aptos"/>
              </a:defRPr>
            </a:pPr>
            <a:r>
              <a:rPr lang="en-ID" sz="1400" dirty="0" err="1">
                <a:solidFill>
                  <a:srgbClr val="64748B"/>
                </a:solidFill>
                <a:latin typeface="Aptos"/>
              </a:rPr>
              <a:t>Menganalisis</a:t>
            </a:r>
            <a:r>
              <a:rPr lang="en-ID" sz="1400" dirty="0">
                <a:solidFill>
                  <a:srgbClr val="64748B"/>
                </a:solidFill>
                <a:latin typeface="Aptos"/>
              </a:rPr>
              <a:t> database </a:t>
            </a:r>
            <a:r>
              <a:rPr lang="en-ID" sz="1400" dirty="0" err="1">
                <a:solidFill>
                  <a:srgbClr val="64748B"/>
                </a:solidFill>
                <a:latin typeface="Aptos"/>
              </a:rPr>
              <a:t>penjualan</a:t>
            </a:r>
            <a:r>
              <a:rPr lang="en-ID" sz="1400" dirty="0">
                <a:solidFill>
                  <a:srgbClr val="64748B"/>
                </a:solidFill>
                <a:latin typeface="Aptos"/>
              </a:rPr>
              <a:t> </a:t>
            </a:r>
            <a:r>
              <a:rPr lang="en-ID" sz="1400" dirty="0" err="1">
                <a:solidFill>
                  <a:srgbClr val="64748B"/>
                </a:solidFill>
                <a:latin typeface="Aptos"/>
              </a:rPr>
              <a:t>relasional</a:t>
            </a:r>
            <a:r>
              <a:rPr lang="en-ID" sz="1400" dirty="0">
                <a:solidFill>
                  <a:srgbClr val="64748B"/>
                </a:solidFill>
                <a:latin typeface="Aptos"/>
              </a:rPr>
              <a:t> </a:t>
            </a:r>
            <a:r>
              <a:rPr lang="en-ID" sz="1400" dirty="0" err="1">
                <a:solidFill>
                  <a:srgbClr val="64748B"/>
                </a:solidFill>
                <a:latin typeface="Aptos"/>
              </a:rPr>
              <a:t>menggunakan</a:t>
            </a:r>
            <a:r>
              <a:rPr lang="en-ID" sz="1400" dirty="0">
                <a:solidFill>
                  <a:srgbClr val="64748B"/>
                </a:solidFill>
                <a:latin typeface="Aptos"/>
              </a:rPr>
              <a:t> SQL di Google </a:t>
            </a:r>
            <a:r>
              <a:rPr lang="en-ID" sz="1400" dirty="0" err="1">
                <a:solidFill>
                  <a:srgbClr val="64748B"/>
                </a:solidFill>
                <a:latin typeface="Aptos"/>
              </a:rPr>
              <a:t>BigQuery</a:t>
            </a:r>
            <a:r>
              <a:rPr lang="en-ID" sz="1400" dirty="0">
                <a:solidFill>
                  <a:srgbClr val="64748B"/>
                </a:solidFill>
                <a:latin typeface="Aptos"/>
              </a:rPr>
              <a:t> </a:t>
            </a:r>
            <a:r>
              <a:rPr lang="en-ID" sz="1400" dirty="0" err="1">
                <a:solidFill>
                  <a:srgbClr val="64748B"/>
                </a:solidFill>
                <a:latin typeface="Aptos"/>
              </a:rPr>
              <a:t>untuk</a:t>
            </a:r>
            <a:r>
              <a:rPr lang="en-ID" sz="1400" dirty="0">
                <a:solidFill>
                  <a:srgbClr val="64748B"/>
                </a:solidFill>
                <a:latin typeface="Aptos"/>
              </a:rPr>
              <a:t> </a:t>
            </a:r>
            <a:r>
              <a:rPr lang="en-ID" sz="1400" dirty="0" err="1">
                <a:solidFill>
                  <a:srgbClr val="64748B"/>
                </a:solidFill>
                <a:latin typeface="Aptos"/>
              </a:rPr>
              <a:t>mengidentifikasi</a:t>
            </a:r>
            <a:r>
              <a:rPr lang="en-ID" sz="1400" dirty="0">
                <a:solidFill>
                  <a:srgbClr val="64748B"/>
                </a:solidFill>
                <a:latin typeface="Aptos"/>
              </a:rPr>
              <a:t> </a:t>
            </a:r>
            <a:r>
              <a:rPr lang="en-ID" sz="1400" dirty="0" err="1">
                <a:solidFill>
                  <a:srgbClr val="64748B"/>
                </a:solidFill>
                <a:latin typeface="Aptos"/>
              </a:rPr>
              <a:t>tren</a:t>
            </a:r>
            <a:r>
              <a:rPr lang="en-ID" sz="1400" dirty="0">
                <a:solidFill>
                  <a:srgbClr val="64748B"/>
                </a:solidFill>
                <a:latin typeface="Aptos"/>
              </a:rPr>
              <a:t> </a:t>
            </a:r>
            <a:r>
              <a:rPr lang="en-ID" sz="1400" dirty="0" err="1">
                <a:solidFill>
                  <a:srgbClr val="64748B"/>
                </a:solidFill>
                <a:latin typeface="Aptos"/>
              </a:rPr>
              <a:t>penjualan</a:t>
            </a:r>
            <a:r>
              <a:rPr lang="en-ID" sz="1400" dirty="0">
                <a:solidFill>
                  <a:srgbClr val="64748B"/>
                </a:solidFill>
                <a:latin typeface="Aptos"/>
              </a:rPr>
              <a:t>, </a:t>
            </a:r>
            <a:r>
              <a:rPr lang="en-ID" sz="1400" dirty="0" err="1">
                <a:solidFill>
                  <a:srgbClr val="64748B"/>
                </a:solidFill>
                <a:latin typeface="Aptos"/>
              </a:rPr>
              <a:t>kontribusi</a:t>
            </a:r>
            <a:r>
              <a:rPr lang="en-ID" sz="1400" dirty="0">
                <a:solidFill>
                  <a:srgbClr val="64748B"/>
                </a:solidFill>
                <a:latin typeface="Aptos"/>
              </a:rPr>
              <a:t> </a:t>
            </a:r>
            <a:r>
              <a:rPr lang="en-ID" sz="1400" dirty="0" err="1">
                <a:solidFill>
                  <a:srgbClr val="64748B"/>
                </a:solidFill>
                <a:latin typeface="Aptos"/>
              </a:rPr>
              <a:t>produk</a:t>
            </a:r>
            <a:r>
              <a:rPr lang="en-ID" sz="1400" dirty="0">
                <a:solidFill>
                  <a:srgbClr val="64748B"/>
                </a:solidFill>
                <a:latin typeface="Aptos"/>
              </a:rPr>
              <a:t> dan </a:t>
            </a:r>
            <a:r>
              <a:rPr lang="en-ID" sz="1400" dirty="0" err="1">
                <a:solidFill>
                  <a:srgbClr val="64748B"/>
                </a:solidFill>
                <a:latin typeface="Aptos"/>
              </a:rPr>
              <a:t>kategori</a:t>
            </a:r>
            <a:r>
              <a:rPr lang="en-ID" sz="1400" dirty="0">
                <a:solidFill>
                  <a:srgbClr val="64748B"/>
                </a:solidFill>
                <a:latin typeface="Aptos"/>
              </a:rPr>
              <a:t>, </a:t>
            </a:r>
            <a:r>
              <a:rPr lang="en-ID" sz="1400" dirty="0" err="1">
                <a:solidFill>
                  <a:srgbClr val="64748B"/>
                </a:solidFill>
                <a:latin typeface="Aptos"/>
              </a:rPr>
              <a:t>serta</a:t>
            </a:r>
            <a:r>
              <a:rPr lang="en-ID" sz="1400" dirty="0">
                <a:solidFill>
                  <a:srgbClr val="64748B"/>
                </a:solidFill>
                <a:latin typeface="Aptos"/>
              </a:rPr>
              <a:t> </a:t>
            </a:r>
            <a:r>
              <a:rPr lang="en-ID" sz="1400" dirty="0" err="1">
                <a:solidFill>
                  <a:srgbClr val="64748B"/>
                </a:solidFill>
                <a:latin typeface="Aptos"/>
              </a:rPr>
              <a:t>performa</a:t>
            </a:r>
            <a:r>
              <a:rPr lang="en-ID" sz="1400" dirty="0">
                <a:solidFill>
                  <a:srgbClr val="64748B"/>
                </a:solidFill>
                <a:latin typeface="Aptos"/>
              </a:rPr>
              <a:t> </a:t>
            </a:r>
            <a:r>
              <a:rPr lang="en-ID" sz="1400" dirty="0" err="1">
                <a:solidFill>
                  <a:srgbClr val="64748B"/>
                </a:solidFill>
                <a:latin typeface="Aptos"/>
              </a:rPr>
              <a:t>setiap</a:t>
            </a:r>
            <a:r>
              <a:rPr lang="en-ID" sz="1400" dirty="0">
                <a:solidFill>
                  <a:srgbClr val="64748B"/>
                </a:solidFill>
                <a:latin typeface="Aptos"/>
              </a:rPr>
              <a:t> toko. Hasil </a:t>
            </a:r>
            <a:r>
              <a:rPr lang="en-ID" sz="1400" dirty="0" err="1">
                <a:solidFill>
                  <a:srgbClr val="64748B"/>
                </a:solidFill>
                <a:latin typeface="Aptos"/>
              </a:rPr>
              <a:t>analisis</a:t>
            </a:r>
            <a:r>
              <a:rPr lang="en-ID" sz="1400" dirty="0">
                <a:solidFill>
                  <a:srgbClr val="64748B"/>
                </a:solidFill>
                <a:latin typeface="Aptos"/>
              </a:rPr>
              <a:t> </a:t>
            </a:r>
            <a:r>
              <a:rPr lang="en-ID" sz="1400" dirty="0" err="1">
                <a:solidFill>
                  <a:srgbClr val="64748B"/>
                </a:solidFill>
                <a:latin typeface="Aptos"/>
              </a:rPr>
              <a:t>disajikan</a:t>
            </a:r>
            <a:r>
              <a:rPr lang="en-ID" sz="1400" dirty="0">
                <a:solidFill>
                  <a:srgbClr val="64748B"/>
                </a:solidFill>
                <a:latin typeface="Aptos"/>
              </a:rPr>
              <a:t> </a:t>
            </a:r>
            <a:r>
              <a:rPr lang="en-ID" sz="1400" dirty="0" err="1">
                <a:solidFill>
                  <a:srgbClr val="64748B"/>
                </a:solidFill>
                <a:latin typeface="Aptos"/>
              </a:rPr>
              <a:t>melalui</a:t>
            </a:r>
            <a:r>
              <a:rPr lang="en-ID" sz="1400" dirty="0">
                <a:solidFill>
                  <a:srgbClr val="64748B"/>
                </a:solidFill>
                <a:latin typeface="Aptos"/>
              </a:rPr>
              <a:t> dashboard </a:t>
            </a:r>
            <a:r>
              <a:rPr lang="en-ID" sz="1400" dirty="0" err="1">
                <a:solidFill>
                  <a:srgbClr val="64748B"/>
                </a:solidFill>
                <a:latin typeface="Aptos"/>
              </a:rPr>
              <a:t>interaktif</a:t>
            </a:r>
            <a:r>
              <a:rPr lang="en-ID" sz="1400" dirty="0">
                <a:solidFill>
                  <a:srgbClr val="64748B"/>
                </a:solidFill>
                <a:latin typeface="Aptos"/>
              </a:rPr>
              <a:t> Looker Studio </a:t>
            </a:r>
            <a:r>
              <a:rPr lang="en-ID" sz="1400" dirty="0" err="1">
                <a:solidFill>
                  <a:srgbClr val="64748B"/>
                </a:solidFill>
                <a:latin typeface="Aptos"/>
              </a:rPr>
              <a:t>untuk</a:t>
            </a:r>
            <a:r>
              <a:rPr lang="en-ID" sz="1400" dirty="0">
                <a:solidFill>
                  <a:srgbClr val="64748B"/>
                </a:solidFill>
                <a:latin typeface="Aptos"/>
              </a:rPr>
              <a:t> </a:t>
            </a:r>
            <a:r>
              <a:rPr lang="en-ID" sz="1400" dirty="0" err="1">
                <a:solidFill>
                  <a:srgbClr val="64748B"/>
                </a:solidFill>
                <a:latin typeface="Aptos"/>
              </a:rPr>
              <a:t>menghasilkan</a:t>
            </a:r>
            <a:r>
              <a:rPr lang="en-ID" sz="1400" dirty="0">
                <a:solidFill>
                  <a:srgbClr val="64748B"/>
                </a:solidFill>
                <a:latin typeface="Aptos"/>
              </a:rPr>
              <a:t> insight dan </a:t>
            </a:r>
            <a:r>
              <a:rPr lang="en-ID" sz="1400" dirty="0" err="1">
                <a:solidFill>
                  <a:srgbClr val="64748B"/>
                </a:solidFill>
                <a:latin typeface="Aptos"/>
              </a:rPr>
              <a:t>rekomendasi</a:t>
            </a:r>
            <a:r>
              <a:rPr lang="en-ID" sz="1400" dirty="0">
                <a:solidFill>
                  <a:srgbClr val="64748B"/>
                </a:solidFill>
                <a:latin typeface="Aptos"/>
              </a:rPr>
              <a:t> yang </a:t>
            </a:r>
            <a:r>
              <a:rPr lang="en-ID" sz="1400" dirty="0" err="1">
                <a:solidFill>
                  <a:srgbClr val="64748B"/>
                </a:solidFill>
                <a:latin typeface="Aptos"/>
              </a:rPr>
              <a:t>mendukung</a:t>
            </a:r>
            <a:r>
              <a:rPr lang="en-ID" sz="1400" dirty="0">
                <a:solidFill>
                  <a:srgbClr val="64748B"/>
                </a:solidFill>
                <a:latin typeface="Aptos"/>
              </a:rPr>
              <a:t> </a:t>
            </a:r>
            <a:r>
              <a:rPr lang="en-ID" sz="1400" dirty="0" err="1">
                <a:solidFill>
                  <a:srgbClr val="64748B"/>
                </a:solidFill>
                <a:latin typeface="Aptos"/>
              </a:rPr>
              <a:t>pengambilan</a:t>
            </a:r>
            <a:r>
              <a:rPr lang="en-ID" sz="1400" dirty="0">
                <a:solidFill>
                  <a:srgbClr val="64748B"/>
                </a:solidFill>
                <a:latin typeface="Aptos"/>
              </a:rPr>
              <a:t> </a:t>
            </a:r>
            <a:r>
              <a:rPr lang="en-ID" sz="1400" dirty="0" err="1">
                <a:solidFill>
                  <a:srgbClr val="64748B"/>
                </a:solidFill>
                <a:latin typeface="Aptos"/>
              </a:rPr>
              <a:t>keputusan</a:t>
            </a:r>
            <a:r>
              <a:rPr lang="en-ID" sz="1400" dirty="0">
                <a:solidFill>
                  <a:srgbClr val="64748B"/>
                </a:solidFill>
                <a:latin typeface="Aptos"/>
              </a:rPr>
              <a:t> </a:t>
            </a:r>
            <a:r>
              <a:rPr lang="en-ID" sz="1400" dirty="0" err="1">
                <a:solidFill>
                  <a:srgbClr val="64748B"/>
                </a:solidFill>
                <a:latin typeface="Aptos"/>
              </a:rPr>
              <a:t>bisnis</a:t>
            </a:r>
            <a:r>
              <a:rPr lang="en-ID" sz="1400" dirty="0">
                <a:solidFill>
                  <a:srgbClr val="64748B"/>
                </a:solidFill>
                <a:latin typeface="Aptos"/>
              </a:rPr>
              <a:t>.</a:t>
            </a:r>
          </a:p>
          <a:p>
            <a:pPr>
              <a:spcAft>
                <a:spcPts val="700"/>
              </a:spcAft>
              <a:defRPr sz="1400" b="0">
                <a:solidFill>
                  <a:srgbClr val="64748B"/>
                </a:solidFill>
                <a:latin typeface="Aptos"/>
              </a:defRPr>
            </a:pPr>
            <a:endParaRPr lang="en-ID" sz="1400" dirty="0">
              <a:solidFill>
                <a:srgbClr val="64748B"/>
              </a:solidFill>
              <a:latin typeface="Aptos"/>
            </a:endParaRPr>
          </a:p>
          <a:p>
            <a:pPr>
              <a:spcAft>
                <a:spcPts val="700"/>
              </a:spcAft>
              <a:defRPr sz="1400" b="0">
                <a:solidFill>
                  <a:srgbClr val="64748B"/>
                </a:solidFill>
                <a:latin typeface="Aptos"/>
              </a:defRPr>
            </a:pPr>
            <a:endParaRPr dirty="0"/>
          </a:p>
        </p:txBody>
      </p:sp>
      <p:sp>
        <p:nvSpPr>
          <p:cNvPr id="16" name="Rounded Rectangle 15"/>
          <p:cNvSpPr/>
          <p:nvPr/>
        </p:nvSpPr>
        <p:spPr>
          <a:xfrm>
            <a:off x="502920" y="9345168"/>
            <a:ext cx="8138160" cy="960120"/>
          </a:xfrm>
          <a:prstGeom prst="roundRect">
            <a:avLst/>
          </a:prstGeom>
          <a:solidFill>
            <a:srgbClr val="EAF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8952" y="9610344"/>
            <a:ext cx="7589520" cy="502920"/>
          </a:xfrm>
          <a:prstGeom prst="rect">
            <a:avLst/>
          </a:prstGeom>
          <a:noFill/>
        </p:spPr>
        <p:txBody>
          <a:bodyPr wrap="square">
            <a:spAutoFit/>
          </a:bodyPr>
          <a:lstStyle/>
          <a:p>
            <a:pPr>
              <a:spcAft>
                <a:spcPts val="700"/>
              </a:spcAft>
              <a:defRPr sz="1400" b="1">
                <a:solidFill>
                  <a:srgbClr val="102C50"/>
                </a:solidFill>
                <a:latin typeface="Aptos"/>
              </a:defRPr>
            </a:pPr>
            <a:r>
              <a:t>DATASET  Bike Store relational database  •  TOOLS  SQL Server (SSMS), Looker Studio</a:t>
            </a:r>
          </a:p>
        </p:txBody>
      </p:sp>
      <p:sp>
        <p:nvSpPr>
          <p:cNvPr id="19" name="TextBox 18">
            <a:extLst>
              <a:ext uri="{FF2B5EF4-FFF2-40B4-BE49-F238E27FC236}">
                <a16:creationId xmlns:a16="http://schemas.microsoft.com/office/drawing/2014/main" id="{84D89C69-7276-4038-D875-3C587F22FF94}"/>
              </a:ext>
            </a:extLst>
          </p:cNvPr>
          <p:cNvSpPr txBox="1"/>
          <p:nvPr/>
        </p:nvSpPr>
        <p:spPr>
          <a:xfrm>
            <a:off x="722376" y="2784546"/>
            <a:ext cx="7680960" cy="1384995"/>
          </a:xfrm>
          <a:prstGeom prst="rect">
            <a:avLst/>
          </a:prstGeom>
          <a:noFill/>
        </p:spPr>
        <p:txBody>
          <a:bodyPr wrap="square">
            <a:spAutoFit/>
          </a:bodyPr>
          <a:lstStyle/>
          <a:p>
            <a:pPr algn="just"/>
            <a:r>
              <a:rPr lang="en-ID" sz="1400" dirty="0" err="1">
                <a:solidFill>
                  <a:schemeClr val="tx1">
                    <a:lumMod val="50000"/>
                    <a:lumOff val="50000"/>
                  </a:schemeClr>
                </a:solidFill>
                <a:latin typeface="Aptos" panose="020B0004020202020204" pitchFamily="34" charset="0"/>
              </a:rPr>
              <a:t>Dalam</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industri</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ritel</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performa</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penjualan</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menjadi</a:t>
            </a:r>
            <a:r>
              <a:rPr lang="en-ID" sz="1400" dirty="0">
                <a:solidFill>
                  <a:schemeClr val="tx1">
                    <a:lumMod val="50000"/>
                    <a:lumOff val="50000"/>
                  </a:schemeClr>
                </a:solidFill>
                <a:latin typeface="Aptos" panose="020B0004020202020204" pitchFamily="34" charset="0"/>
              </a:rPr>
              <a:t> salah </a:t>
            </a:r>
            <a:r>
              <a:rPr lang="en-ID" sz="1400" dirty="0" err="1">
                <a:solidFill>
                  <a:schemeClr val="tx1">
                    <a:lumMod val="50000"/>
                    <a:lumOff val="50000"/>
                  </a:schemeClr>
                </a:solidFill>
                <a:latin typeface="Aptos" panose="020B0004020202020204" pitchFamily="34" charset="0"/>
              </a:rPr>
              <a:t>satu</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indikator</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penting</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dalam</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mengevaluasi</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kinerja</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bisnis</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Setiap</a:t>
            </a:r>
            <a:r>
              <a:rPr lang="en-ID" sz="1400" dirty="0">
                <a:solidFill>
                  <a:schemeClr val="tx1">
                    <a:lumMod val="50000"/>
                    <a:lumOff val="50000"/>
                  </a:schemeClr>
                </a:solidFill>
                <a:latin typeface="Aptos" panose="020B0004020202020204" pitchFamily="34" charset="0"/>
              </a:rPr>
              <a:t> toko, </a:t>
            </a:r>
            <a:r>
              <a:rPr lang="en-ID" sz="1400" dirty="0" err="1">
                <a:solidFill>
                  <a:schemeClr val="tx1">
                    <a:lumMod val="50000"/>
                    <a:lumOff val="50000"/>
                  </a:schemeClr>
                </a:solidFill>
                <a:latin typeface="Aptos" panose="020B0004020202020204" pitchFamily="34" charset="0"/>
              </a:rPr>
              <a:t>produk</a:t>
            </a:r>
            <a:r>
              <a:rPr lang="en-ID" sz="1400" dirty="0">
                <a:solidFill>
                  <a:schemeClr val="tx1">
                    <a:lumMod val="50000"/>
                    <a:lumOff val="50000"/>
                  </a:schemeClr>
                </a:solidFill>
                <a:latin typeface="Aptos" panose="020B0004020202020204" pitchFamily="34" charset="0"/>
              </a:rPr>
              <a:t>, dan </a:t>
            </a:r>
            <a:r>
              <a:rPr lang="en-ID" sz="1400" dirty="0" err="1">
                <a:solidFill>
                  <a:schemeClr val="tx1">
                    <a:lumMod val="50000"/>
                    <a:lumOff val="50000"/>
                  </a:schemeClr>
                </a:solidFill>
                <a:latin typeface="Aptos" panose="020B0004020202020204" pitchFamily="34" charset="0"/>
              </a:rPr>
              <a:t>kategori</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memiliki</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kontribusi</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penjualan</a:t>
            </a:r>
            <a:r>
              <a:rPr lang="en-ID" sz="1400" dirty="0">
                <a:solidFill>
                  <a:schemeClr val="tx1">
                    <a:lumMod val="50000"/>
                    <a:lumOff val="50000"/>
                  </a:schemeClr>
                </a:solidFill>
                <a:latin typeface="Aptos" panose="020B0004020202020204" pitchFamily="34" charset="0"/>
              </a:rPr>
              <a:t> yang </a:t>
            </a:r>
            <a:r>
              <a:rPr lang="en-ID" sz="1400" dirty="0" err="1">
                <a:solidFill>
                  <a:schemeClr val="tx1">
                    <a:lumMod val="50000"/>
                    <a:lumOff val="50000"/>
                  </a:schemeClr>
                </a:solidFill>
                <a:latin typeface="Aptos" panose="020B0004020202020204" pitchFamily="34" charset="0"/>
              </a:rPr>
              <a:t>berbeda</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sehingga</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diperlukan</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analisis</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untuk</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memahami</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pola</a:t>
            </a:r>
            <a:r>
              <a:rPr lang="en-ID" sz="1400" dirty="0">
                <a:solidFill>
                  <a:schemeClr val="tx1">
                    <a:lumMod val="50000"/>
                    <a:lumOff val="50000"/>
                  </a:schemeClr>
                </a:solidFill>
                <a:latin typeface="Aptos" panose="020B0004020202020204" pitchFamily="34" charset="0"/>
              </a:rPr>
              <a:t> dan </a:t>
            </a:r>
            <a:r>
              <a:rPr lang="en-ID" sz="1400" dirty="0" err="1">
                <a:solidFill>
                  <a:schemeClr val="tx1">
                    <a:lumMod val="50000"/>
                    <a:lumOff val="50000"/>
                  </a:schemeClr>
                </a:solidFill>
                <a:latin typeface="Aptos" panose="020B0004020202020204" pitchFamily="34" charset="0"/>
              </a:rPr>
              <a:t>tren</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pendapatan</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Melalui</a:t>
            </a:r>
            <a:r>
              <a:rPr lang="en-ID" sz="1400" dirty="0">
                <a:solidFill>
                  <a:schemeClr val="tx1">
                    <a:lumMod val="50000"/>
                    <a:lumOff val="50000"/>
                  </a:schemeClr>
                </a:solidFill>
                <a:latin typeface="Aptos" panose="020B0004020202020204" pitchFamily="34" charset="0"/>
              </a:rPr>
              <a:t> project Bike Store Sales Performance Analysis, data </a:t>
            </a:r>
            <a:r>
              <a:rPr lang="en-ID" sz="1400" dirty="0" err="1">
                <a:solidFill>
                  <a:schemeClr val="tx1">
                    <a:lumMod val="50000"/>
                    <a:lumOff val="50000"/>
                  </a:schemeClr>
                </a:solidFill>
                <a:latin typeface="Aptos" panose="020B0004020202020204" pitchFamily="34" charset="0"/>
              </a:rPr>
              <a:t>transaksi</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penjualan</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dianalisis</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untuk</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mengidentifikasi</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produk</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unggulan</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membandingkan</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kinerja</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antar</a:t>
            </a:r>
            <a:r>
              <a:rPr lang="en-ID" sz="1400" dirty="0">
                <a:solidFill>
                  <a:schemeClr val="tx1">
                    <a:lumMod val="50000"/>
                    <a:lumOff val="50000"/>
                  </a:schemeClr>
                </a:solidFill>
                <a:latin typeface="Aptos" panose="020B0004020202020204" pitchFamily="34" charset="0"/>
              </a:rPr>
              <a:t> toko, </a:t>
            </a:r>
            <a:r>
              <a:rPr lang="en-ID" sz="1400" dirty="0" err="1">
                <a:solidFill>
                  <a:schemeClr val="tx1">
                    <a:lumMod val="50000"/>
                    <a:lumOff val="50000"/>
                  </a:schemeClr>
                </a:solidFill>
                <a:latin typeface="Aptos" panose="020B0004020202020204" pitchFamily="34" charset="0"/>
              </a:rPr>
              <a:t>serta</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menemukan</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peluang</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pengembangan</a:t>
            </a:r>
            <a:r>
              <a:rPr lang="en-ID" sz="1400" dirty="0">
                <a:solidFill>
                  <a:schemeClr val="tx1">
                    <a:lumMod val="50000"/>
                    <a:lumOff val="50000"/>
                  </a:schemeClr>
                </a:solidFill>
                <a:latin typeface="Aptos" panose="020B0004020202020204" pitchFamily="34" charset="0"/>
              </a:rPr>
              <a:t> strategi </a:t>
            </a:r>
            <a:r>
              <a:rPr lang="en-ID" sz="1400" dirty="0" err="1">
                <a:solidFill>
                  <a:schemeClr val="tx1">
                    <a:lumMod val="50000"/>
                    <a:lumOff val="50000"/>
                  </a:schemeClr>
                </a:solidFill>
                <a:latin typeface="Aptos" panose="020B0004020202020204" pitchFamily="34" charset="0"/>
              </a:rPr>
              <a:t>penjualan</a:t>
            </a:r>
            <a:r>
              <a:rPr lang="en-ID" sz="1400" dirty="0">
                <a:solidFill>
                  <a:schemeClr val="tx1">
                    <a:lumMod val="50000"/>
                    <a:lumOff val="50000"/>
                  </a:schemeClr>
                </a:solidFill>
                <a:latin typeface="Aptos" panose="020B0004020202020204" pitchFamily="34" charset="0"/>
              </a:rPr>
              <a:t> yang </a:t>
            </a:r>
            <a:r>
              <a:rPr lang="en-ID" sz="1400" dirty="0" err="1">
                <a:solidFill>
                  <a:schemeClr val="tx1">
                    <a:lumMod val="50000"/>
                    <a:lumOff val="50000"/>
                  </a:schemeClr>
                </a:solidFill>
                <a:latin typeface="Aptos" panose="020B0004020202020204" pitchFamily="34" charset="0"/>
              </a:rPr>
              <a:t>lebih</a:t>
            </a:r>
            <a:r>
              <a:rPr lang="en-ID" sz="1400" dirty="0">
                <a:solidFill>
                  <a:schemeClr val="tx1">
                    <a:lumMod val="50000"/>
                    <a:lumOff val="50000"/>
                  </a:schemeClr>
                </a:solidFill>
                <a:latin typeface="Aptos" panose="020B0004020202020204" pitchFamily="34" charset="0"/>
              </a:rPr>
              <a:t> </a:t>
            </a:r>
            <a:r>
              <a:rPr lang="en-ID" sz="1400" dirty="0" err="1">
                <a:solidFill>
                  <a:schemeClr val="tx1">
                    <a:lumMod val="50000"/>
                    <a:lumOff val="50000"/>
                  </a:schemeClr>
                </a:solidFill>
                <a:latin typeface="Aptos" panose="020B0004020202020204" pitchFamily="34" charset="0"/>
              </a:rPr>
              <a:t>efektif</a:t>
            </a:r>
            <a:r>
              <a:rPr lang="en-ID" sz="1400" dirty="0">
                <a:solidFill>
                  <a:schemeClr val="tx1">
                    <a:lumMod val="50000"/>
                    <a:lumOff val="50000"/>
                  </a:schemeClr>
                </a:solidFill>
                <a:latin typeface="Aptos" panose="020B0004020202020204" pitchFamily="34" charset="0"/>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E"/>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46304"/>
          </a:xfrm>
          <a:prstGeom prst="rect">
            <a:avLst/>
          </a:prstGeom>
          <a:solidFill>
            <a:srgbClr val="1675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9184"/>
            <a:ext cx="7315200" cy="274320"/>
          </a:xfrm>
          <a:prstGeom prst="rect">
            <a:avLst/>
          </a:prstGeom>
          <a:noFill/>
        </p:spPr>
        <p:txBody>
          <a:bodyPr wrap="square">
            <a:spAutoFit/>
          </a:bodyPr>
          <a:lstStyle/>
          <a:p>
            <a:pPr>
              <a:spcAft>
                <a:spcPts val="700"/>
              </a:spcAft>
              <a:defRPr sz="1000" b="1">
                <a:solidFill>
                  <a:srgbClr val="1675D1"/>
                </a:solidFill>
                <a:latin typeface="Aptos"/>
              </a:defRPr>
            </a:pPr>
            <a:r>
              <a:t>DATA ANALYTICS PORTFOLIO  /  BIKE STORE</a:t>
            </a:r>
          </a:p>
        </p:txBody>
      </p:sp>
      <p:sp>
        <p:nvSpPr>
          <p:cNvPr id="4" name="TextBox 3"/>
          <p:cNvSpPr txBox="1"/>
          <p:nvPr/>
        </p:nvSpPr>
        <p:spPr>
          <a:xfrm>
            <a:off x="502920" y="859536"/>
            <a:ext cx="8138160" cy="731520"/>
          </a:xfrm>
          <a:prstGeom prst="rect">
            <a:avLst/>
          </a:prstGeom>
          <a:noFill/>
        </p:spPr>
        <p:txBody>
          <a:bodyPr wrap="square">
            <a:spAutoFit/>
          </a:bodyPr>
          <a:lstStyle/>
          <a:p>
            <a:pPr>
              <a:spcAft>
                <a:spcPts val="700"/>
              </a:spcAft>
              <a:defRPr sz="3000" b="1">
                <a:solidFill>
                  <a:srgbClr val="102C50"/>
                </a:solidFill>
                <a:latin typeface="Aptos"/>
              </a:defRPr>
            </a:pPr>
            <a:r>
              <a:t>SQL Analysis</a:t>
            </a:r>
          </a:p>
        </p:txBody>
      </p:sp>
      <p:sp>
        <p:nvSpPr>
          <p:cNvPr id="6" name="TextBox 5"/>
          <p:cNvSpPr txBox="1"/>
          <p:nvPr/>
        </p:nvSpPr>
        <p:spPr>
          <a:xfrm>
            <a:off x="7909560" y="10991088"/>
            <a:ext cx="731520" cy="228600"/>
          </a:xfrm>
          <a:prstGeom prst="rect">
            <a:avLst/>
          </a:prstGeom>
          <a:noFill/>
        </p:spPr>
        <p:txBody>
          <a:bodyPr wrap="square">
            <a:spAutoFit/>
          </a:bodyPr>
          <a:lstStyle/>
          <a:p>
            <a:pPr>
              <a:spcAft>
                <a:spcPts val="700"/>
              </a:spcAft>
              <a:defRPr sz="1000" b="1">
                <a:solidFill>
                  <a:srgbClr val="64748B"/>
                </a:solidFill>
                <a:latin typeface="Aptos"/>
              </a:defRPr>
            </a:pPr>
            <a:r>
              <a:t>03 / 08</a:t>
            </a:r>
          </a:p>
        </p:txBody>
      </p:sp>
      <p:sp>
        <p:nvSpPr>
          <p:cNvPr id="7" name="Rounded Rectangle 6"/>
          <p:cNvSpPr/>
          <p:nvPr/>
        </p:nvSpPr>
        <p:spPr>
          <a:xfrm>
            <a:off x="502920" y="1673353"/>
            <a:ext cx="8138160" cy="4956047"/>
          </a:xfrm>
          <a:prstGeom prst="roundRect">
            <a:avLst/>
          </a:prstGeom>
          <a:solidFill>
            <a:srgbClr val="EAF3FC"/>
          </a:solidFill>
          <a:ln>
            <a:solidFill>
              <a:srgbClr val="91BDE7"/>
            </a:solidFill>
          </a:ln>
        </p:spPr>
        <p:style>
          <a:lnRef idx="1">
            <a:schemeClr val="accent1"/>
          </a:lnRef>
          <a:fillRef idx="3">
            <a:schemeClr val="accent1"/>
          </a:fillRef>
          <a:effectRef idx="2">
            <a:schemeClr val="accent1"/>
          </a:effectRef>
          <a:fontRef idx="minor">
            <a:schemeClr val="lt1"/>
          </a:fontRef>
        </p:style>
        <p:txBody>
          <a:bodyPr rtlCol="0" anchor="ctr"/>
          <a:lstStyle/>
          <a:p>
            <a:r>
              <a:rPr lang="en-ID"/>
              <a:t>Analisis tren penjualan dilakukan dengan mengelompokkan transaksi berdasarkan bulan dan tahun untuk mengetahui perubahan pendapatan dari waktu ke waktu. Hasil analisis digunakan untuk mengidentifikasi periode penjualan tertinggi dan terendah serta mengevaluasi perkembangan penjualan Bike Store.</a:t>
            </a:r>
          </a:p>
        </p:txBody>
      </p:sp>
      <p:sp>
        <p:nvSpPr>
          <p:cNvPr id="9" name="TextBox 8"/>
          <p:cNvSpPr txBox="1"/>
          <p:nvPr/>
        </p:nvSpPr>
        <p:spPr>
          <a:xfrm>
            <a:off x="777240" y="2111249"/>
            <a:ext cx="7589520" cy="384721"/>
          </a:xfrm>
          <a:prstGeom prst="rect">
            <a:avLst/>
          </a:prstGeom>
          <a:noFill/>
        </p:spPr>
        <p:txBody>
          <a:bodyPr wrap="square">
            <a:spAutoFit/>
          </a:bodyPr>
          <a:lstStyle/>
          <a:p>
            <a:pPr algn="ctr">
              <a:spcAft>
                <a:spcPts val="700"/>
              </a:spcAft>
              <a:defRPr sz="1900" b="1">
                <a:solidFill>
                  <a:srgbClr val="102C50"/>
                </a:solidFill>
                <a:latin typeface="Aptos"/>
              </a:defRPr>
            </a:pPr>
            <a:r>
              <a:rPr dirty="0"/>
              <a:t>01 — SALES TREND QUERY</a:t>
            </a:r>
          </a:p>
        </p:txBody>
      </p:sp>
      <p:sp>
        <p:nvSpPr>
          <p:cNvPr id="11" name="Rounded Rectangle 10"/>
          <p:cNvSpPr/>
          <p:nvPr/>
        </p:nvSpPr>
        <p:spPr>
          <a:xfrm>
            <a:off x="502920" y="6934200"/>
            <a:ext cx="8138160" cy="2987039"/>
          </a:xfrm>
          <a:prstGeom prst="roundRect">
            <a:avLst/>
          </a:prstGeom>
          <a:solidFill>
            <a:srgbClr val="FFFFFF"/>
          </a:solidFill>
          <a:ln>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19600" y="7230871"/>
            <a:ext cx="3992880" cy="365760"/>
          </a:xfrm>
          <a:prstGeom prst="rect">
            <a:avLst/>
          </a:prstGeom>
          <a:noFill/>
        </p:spPr>
        <p:txBody>
          <a:bodyPr wrap="square">
            <a:spAutoFit/>
          </a:bodyPr>
          <a:lstStyle/>
          <a:p>
            <a:pPr>
              <a:spcAft>
                <a:spcPts val="700"/>
              </a:spcAft>
              <a:defRPr sz="1700" b="1">
                <a:solidFill>
                  <a:srgbClr val="102C50"/>
                </a:solidFill>
                <a:latin typeface="Aptos"/>
              </a:defRPr>
            </a:pPr>
            <a:r>
              <a:rPr dirty="0"/>
              <a:t>SQL WORKFLOW</a:t>
            </a:r>
          </a:p>
        </p:txBody>
      </p:sp>
      <p:sp>
        <p:nvSpPr>
          <p:cNvPr id="13" name="TextBox 12"/>
          <p:cNvSpPr txBox="1"/>
          <p:nvPr/>
        </p:nvSpPr>
        <p:spPr>
          <a:xfrm>
            <a:off x="4419600" y="7596631"/>
            <a:ext cx="3992880" cy="1815882"/>
          </a:xfrm>
          <a:prstGeom prst="rect">
            <a:avLst/>
          </a:prstGeom>
          <a:noFill/>
        </p:spPr>
        <p:txBody>
          <a:bodyPr wrap="square">
            <a:spAutoFit/>
          </a:bodyPr>
          <a:lstStyle/>
          <a:p>
            <a:pPr algn="just"/>
            <a:r>
              <a:rPr lang="en-ID" sz="1400" dirty="0">
                <a:solidFill>
                  <a:schemeClr val="tx1">
                    <a:lumMod val="50000"/>
                    <a:lumOff val="50000"/>
                  </a:schemeClr>
                </a:solidFill>
                <a:latin typeface="Aptos" panose="020B0004020202020204" pitchFamily="34" charset="0"/>
              </a:rPr>
              <a:t>01 Explore and validate relational tables</a:t>
            </a:r>
          </a:p>
          <a:p>
            <a:pPr algn="just"/>
            <a:r>
              <a:rPr lang="en-ID" sz="1400" dirty="0">
                <a:solidFill>
                  <a:schemeClr val="tx1">
                    <a:lumMod val="50000"/>
                    <a:lumOff val="50000"/>
                  </a:schemeClr>
                </a:solidFill>
                <a:latin typeface="Aptos" panose="020B0004020202020204" pitchFamily="34" charset="0"/>
              </a:rPr>
              <a:t>02 Clean data and standardize data types</a:t>
            </a:r>
          </a:p>
          <a:p>
            <a:pPr algn="just"/>
            <a:r>
              <a:rPr lang="en-ID" sz="1400" dirty="0">
                <a:solidFill>
                  <a:schemeClr val="tx1">
                    <a:lumMod val="50000"/>
                    <a:lumOff val="50000"/>
                  </a:schemeClr>
                </a:solidFill>
                <a:latin typeface="Aptos" panose="020B0004020202020204" pitchFamily="34" charset="0"/>
              </a:rPr>
              <a:t>03 JOIN sales, product, category, brand, and store tables</a:t>
            </a:r>
          </a:p>
          <a:p>
            <a:pPr algn="just"/>
            <a:r>
              <a:rPr lang="en-ID" sz="1400" dirty="0">
                <a:solidFill>
                  <a:schemeClr val="tx1">
                    <a:lumMod val="50000"/>
                    <a:lumOff val="50000"/>
                  </a:schemeClr>
                </a:solidFill>
                <a:latin typeface="Aptos" panose="020B0004020202020204" pitchFamily="34" charset="0"/>
              </a:rPr>
              <a:t>04 Calculate sales metrics and </a:t>
            </a:r>
            <a:r>
              <a:rPr lang="en-ID" sz="1400" dirty="0" err="1">
                <a:solidFill>
                  <a:schemeClr val="tx1">
                    <a:lumMod val="50000"/>
                    <a:lumOff val="50000"/>
                  </a:schemeClr>
                </a:solidFill>
                <a:latin typeface="Aptos" panose="020B0004020202020204" pitchFamily="34" charset="0"/>
              </a:rPr>
              <a:t>analyze</a:t>
            </a:r>
            <a:r>
              <a:rPr lang="en-ID" sz="1400" dirty="0">
                <a:solidFill>
                  <a:schemeClr val="tx1">
                    <a:lumMod val="50000"/>
                    <a:lumOff val="50000"/>
                  </a:schemeClr>
                </a:solidFill>
                <a:latin typeface="Aptos" panose="020B0004020202020204" pitchFamily="34" charset="0"/>
              </a:rPr>
              <a:t> business performance</a:t>
            </a:r>
          </a:p>
          <a:p>
            <a:pPr algn="just"/>
            <a:r>
              <a:rPr lang="en-ID" sz="1400" dirty="0">
                <a:solidFill>
                  <a:schemeClr val="tx1">
                    <a:lumMod val="50000"/>
                    <a:lumOff val="50000"/>
                  </a:schemeClr>
                </a:solidFill>
                <a:latin typeface="Aptos" panose="020B0004020202020204" pitchFamily="34" charset="0"/>
              </a:rPr>
              <a:t>05 Prepare the final dataset for Looker Studio visualization</a:t>
            </a:r>
          </a:p>
        </p:txBody>
      </p:sp>
      <p:pic>
        <p:nvPicPr>
          <p:cNvPr id="15" name="Picture 14">
            <a:extLst>
              <a:ext uri="{FF2B5EF4-FFF2-40B4-BE49-F238E27FC236}">
                <a16:creationId xmlns:a16="http://schemas.microsoft.com/office/drawing/2014/main" id="{D01D626F-CA08-8197-95A1-46BF0DFA4C0A}"/>
              </a:ext>
            </a:extLst>
          </p:cNvPr>
          <p:cNvPicPr>
            <a:picLocks noChangeAspect="1"/>
          </p:cNvPicPr>
          <p:nvPr/>
        </p:nvPicPr>
        <p:blipFill>
          <a:blip r:embed="rId2"/>
          <a:stretch>
            <a:fillRect/>
          </a:stretch>
        </p:blipFill>
        <p:spPr>
          <a:xfrm>
            <a:off x="720571" y="2976030"/>
            <a:ext cx="4105274" cy="2800438"/>
          </a:xfrm>
          <a:prstGeom prst="rect">
            <a:avLst/>
          </a:prstGeom>
        </p:spPr>
      </p:pic>
      <p:pic>
        <p:nvPicPr>
          <p:cNvPr id="19" name="Picture 18">
            <a:extLst>
              <a:ext uri="{FF2B5EF4-FFF2-40B4-BE49-F238E27FC236}">
                <a16:creationId xmlns:a16="http://schemas.microsoft.com/office/drawing/2014/main" id="{2834DF0F-F494-AA00-E295-E9B2D9016C52}"/>
              </a:ext>
            </a:extLst>
          </p:cNvPr>
          <p:cNvPicPr>
            <a:picLocks noChangeAspect="1"/>
          </p:cNvPicPr>
          <p:nvPr/>
        </p:nvPicPr>
        <p:blipFill>
          <a:blip r:embed="rId3"/>
          <a:stretch>
            <a:fillRect/>
          </a:stretch>
        </p:blipFill>
        <p:spPr>
          <a:xfrm>
            <a:off x="5027369" y="2982468"/>
            <a:ext cx="3339391" cy="2800438"/>
          </a:xfrm>
          <a:prstGeom prst="rect">
            <a:avLst/>
          </a:prstGeom>
        </p:spPr>
      </p:pic>
      <p:sp>
        <p:nvSpPr>
          <p:cNvPr id="21" name="TextBox 20">
            <a:extLst>
              <a:ext uri="{FF2B5EF4-FFF2-40B4-BE49-F238E27FC236}">
                <a16:creationId xmlns:a16="http://schemas.microsoft.com/office/drawing/2014/main" id="{CDF1B290-FC53-FE56-767E-6E21960AFF60}"/>
              </a:ext>
            </a:extLst>
          </p:cNvPr>
          <p:cNvSpPr txBox="1"/>
          <p:nvPr/>
        </p:nvSpPr>
        <p:spPr>
          <a:xfrm>
            <a:off x="720571" y="7545831"/>
            <a:ext cx="3572029" cy="1815882"/>
          </a:xfrm>
          <a:prstGeom prst="rect">
            <a:avLst/>
          </a:prstGeom>
          <a:noFill/>
        </p:spPr>
        <p:txBody>
          <a:bodyPr wrap="square">
            <a:spAutoFit/>
          </a:bodyPr>
          <a:lstStyle/>
          <a:p>
            <a:pPr algn="just"/>
            <a:r>
              <a:rPr lang="en-ID" sz="1400" dirty="0" err="1">
                <a:solidFill>
                  <a:schemeClr val="tx1">
                    <a:lumMod val="50000"/>
                    <a:lumOff val="50000"/>
                  </a:schemeClr>
                </a:solidFill>
              </a:rPr>
              <a:t>Analisis</a:t>
            </a:r>
            <a:r>
              <a:rPr lang="en-ID" sz="1400" dirty="0">
                <a:solidFill>
                  <a:schemeClr val="tx1">
                    <a:lumMod val="50000"/>
                    <a:lumOff val="50000"/>
                  </a:schemeClr>
                </a:solidFill>
              </a:rPr>
              <a:t> </a:t>
            </a:r>
            <a:r>
              <a:rPr lang="en-ID" sz="1400" dirty="0" err="1">
                <a:solidFill>
                  <a:schemeClr val="tx1">
                    <a:lumMod val="50000"/>
                    <a:lumOff val="50000"/>
                  </a:schemeClr>
                </a:solidFill>
              </a:rPr>
              <a:t>tren</a:t>
            </a:r>
            <a:r>
              <a:rPr lang="en-ID" sz="1400" dirty="0">
                <a:solidFill>
                  <a:schemeClr val="tx1">
                    <a:lumMod val="50000"/>
                    <a:lumOff val="50000"/>
                  </a:schemeClr>
                </a:solidFill>
              </a:rPr>
              <a:t> </a:t>
            </a:r>
            <a:r>
              <a:rPr lang="en-ID" sz="1400" dirty="0" err="1">
                <a:solidFill>
                  <a:schemeClr val="tx1">
                    <a:lumMod val="50000"/>
                    <a:lumOff val="50000"/>
                  </a:schemeClr>
                </a:solidFill>
              </a:rPr>
              <a:t>penjualan</a:t>
            </a:r>
            <a:r>
              <a:rPr lang="en-ID" sz="1400" dirty="0">
                <a:solidFill>
                  <a:schemeClr val="tx1">
                    <a:lumMod val="50000"/>
                    <a:lumOff val="50000"/>
                  </a:schemeClr>
                </a:solidFill>
              </a:rPr>
              <a:t> </a:t>
            </a:r>
            <a:r>
              <a:rPr lang="en-ID" sz="1400" dirty="0" err="1">
                <a:solidFill>
                  <a:schemeClr val="tx1">
                    <a:lumMod val="50000"/>
                    <a:lumOff val="50000"/>
                  </a:schemeClr>
                </a:solidFill>
              </a:rPr>
              <a:t>dilakukan</a:t>
            </a:r>
            <a:r>
              <a:rPr lang="en-ID" sz="1400" dirty="0">
                <a:solidFill>
                  <a:schemeClr val="tx1">
                    <a:lumMod val="50000"/>
                    <a:lumOff val="50000"/>
                  </a:schemeClr>
                </a:solidFill>
              </a:rPr>
              <a:t> </a:t>
            </a:r>
            <a:r>
              <a:rPr lang="en-ID" sz="1400" dirty="0" err="1">
                <a:solidFill>
                  <a:schemeClr val="tx1">
                    <a:lumMod val="50000"/>
                    <a:lumOff val="50000"/>
                  </a:schemeClr>
                </a:solidFill>
              </a:rPr>
              <a:t>dengan</a:t>
            </a:r>
            <a:r>
              <a:rPr lang="en-ID" sz="1400" dirty="0">
                <a:solidFill>
                  <a:schemeClr val="tx1">
                    <a:lumMod val="50000"/>
                    <a:lumOff val="50000"/>
                  </a:schemeClr>
                </a:solidFill>
              </a:rPr>
              <a:t> </a:t>
            </a:r>
            <a:r>
              <a:rPr lang="en-ID" sz="1400" dirty="0" err="1">
                <a:solidFill>
                  <a:schemeClr val="tx1">
                    <a:lumMod val="50000"/>
                    <a:lumOff val="50000"/>
                  </a:schemeClr>
                </a:solidFill>
              </a:rPr>
              <a:t>mengelompokkan</a:t>
            </a:r>
            <a:r>
              <a:rPr lang="en-ID" sz="1400" dirty="0">
                <a:solidFill>
                  <a:schemeClr val="tx1">
                    <a:lumMod val="50000"/>
                    <a:lumOff val="50000"/>
                  </a:schemeClr>
                </a:solidFill>
              </a:rPr>
              <a:t> </a:t>
            </a:r>
            <a:r>
              <a:rPr lang="en-ID" sz="1400" dirty="0" err="1">
                <a:solidFill>
                  <a:schemeClr val="tx1">
                    <a:lumMod val="50000"/>
                    <a:lumOff val="50000"/>
                  </a:schemeClr>
                </a:solidFill>
              </a:rPr>
              <a:t>transaksi</a:t>
            </a:r>
            <a:r>
              <a:rPr lang="en-ID" sz="1400" dirty="0">
                <a:solidFill>
                  <a:schemeClr val="tx1">
                    <a:lumMod val="50000"/>
                    <a:lumOff val="50000"/>
                  </a:schemeClr>
                </a:solidFill>
              </a:rPr>
              <a:t> </a:t>
            </a:r>
            <a:r>
              <a:rPr lang="en-ID" sz="1400" dirty="0" err="1">
                <a:solidFill>
                  <a:schemeClr val="tx1">
                    <a:lumMod val="50000"/>
                    <a:lumOff val="50000"/>
                  </a:schemeClr>
                </a:solidFill>
              </a:rPr>
              <a:t>berdasarkan</a:t>
            </a:r>
            <a:r>
              <a:rPr lang="en-ID" sz="1400" dirty="0">
                <a:solidFill>
                  <a:schemeClr val="tx1">
                    <a:lumMod val="50000"/>
                    <a:lumOff val="50000"/>
                  </a:schemeClr>
                </a:solidFill>
              </a:rPr>
              <a:t> </a:t>
            </a:r>
            <a:r>
              <a:rPr lang="en-ID" sz="1400" dirty="0" err="1">
                <a:solidFill>
                  <a:schemeClr val="tx1">
                    <a:lumMod val="50000"/>
                    <a:lumOff val="50000"/>
                  </a:schemeClr>
                </a:solidFill>
              </a:rPr>
              <a:t>bulan</a:t>
            </a:r>
            <a:r>
              <a:rPr lang="en-ID" sz="1400" dirty="0">
                <a:solidFill>
                  <a:schemeClr val="tx1">
                    <a:lumMod val="50000"/>
                    <a:lumOff val="50000"/>
                  </a:schemeClr>
                </a:solidFill>
              </a:rPr>
              <a:t> dan </a:t>
            </a:r>
            <a:r>
              <a:rPr lang="en-ID" sz="1400" dirty="0" err="1">
                <a:solidFill>
                  <a:schemeClr val="tx1">
                    <a:lumMod val="50000"/>
                    <a:lumOff val="50000"/>
                  </a:schemeClr>
                </a:solidFill>
              </a:rPr>
              <a:t>tahun</a:t>
            </a:r>
            <a:r>
              <a:rPr lang="en-ID" sz="1400" dirty="0">
                <a:solidFill>
                  <a:schemeClr val="tx1">
                    <a:lumMod val="50000"/>
                    <a:lumOff val="50000"/>
                  </a:schemeClr>
                </a:solidFill>
              </a:rPr>
              <a:t> </a:t>
            </a:r>
            <a:r>
              <a:rPr lang="en-ID" sz="1400" dirty="0" err="1">
                <a:solidFill>
                  <a:schemeClr val="tx1">
                    <a:lumMod val="50000"/>
                    <a:lumOff val="50000"/>
                  </a:schemeClr>
                </a:solidFill>
              </a:rPr>
              <a:t>untuk</a:t>
            </a:r>
            <a:r>
              <a:rPr lang="en-ID" sz="1400" dirty="0">
                <a:solidFill>
                  <a:schemeClr val="tx1">
                    <a:lumMod val="50000"/>
                    <a:lumOff val="50000"/>
                  </a:schemeClr>
                </a:solidFill>
              </a:rPr>
              <a:t> </a:t>
            </a:r>
            <a:r>
              <a:rPr lang="en-ID" sz="1400" dirty="0" err="1">
                <a:solidFill>
                  <a:schemeClr val="tx1">
                    <a:lumMod val="50000"/>
                    <a:lumOff val="50000"/>
                  </a:schemeClr>
                </a:solidFill>
              </a:rPr>
              <a:t>mengetahui</a:t>
            </a:r>
            <a:r>
              <a:rPr lang="en-ID" sz="1400" dirty="0">
                <a:solidFill>
                  <a:schemeClr val="tx1">
                    <a:lumMod val="50000"/>
                    <a:lumOff val="50000"/>
                  </a:schemeClr>
                </a:solidFill>
              </a:rPr>
              <a:t> </a:t>
            </a:r>
            <a:r>
              <a:rPr lang="en-ID" sz="1400" dirty="0" err="1">
                <a:solidFill>
                  <a:schemeClr val="tx1">
                    <a:lumMod val="50000"/>
                    <a:lumOff val="50000"/>
                  </a:schemeClr>
                </a:solidFill>
              </a:rPr>
              <a:t>perubahan</a:t>
            </a:r>
            <a:r>
              <a:rPr lang="en-ID" sz="1400" dirty="0">
                <a:solidFill>
                  <a:schemeClr val="tx1">
                    <a:lumMod val="50000"/>
                    <a:lumOff val="50000"/>
                  </a:schemeClr>
                </a:solidFill>
              </a:rPr>
              <a:t> </a:t>
            </a:r>
            <a:r>
              <a:rPr lang="en-ID" sz="1400" dirty="0" err="1">
                <a:solidFill>
                  <a:schemeClr val="tx1">
                    <a:lumMod val="50000"/>
                    <a:lumOff val="50000"/>
                  </a:schemeClr>
                </a:solidFill>
              </a:rPr>
              <a:t>pendapatan</a:t>
            </a:r>
            <a:r>
              <a:rPr lang="en-ID" sz="1400" dirty="0">
                <a:solidFill>
                  <a:schemeClr val="tx1">
                    <a:lumMod val="50000"/>
                    <a:lumOff val="50000"/>
                  </a:schemeClr>
                </a:solidFill>
              </a:rPr>
              <a:t> </a:t>
            </a:r>
            <a:r>
              <a:rPr lang="en-ID" sz="1400" dirty="0" err="1">
                <a:solidFill>
                  <a:schemeClr val="tx1">
                    <a:lumMod val="50000"/>
                    <a:lumOff val="50000"/>
                  </a:schemeClr>
                </a:solidFill>
              </a:rPr>
              <a:t>dari</a:t>
            </a:r>
            <a:r>
              <a:rPr lang="en-ID" sz="1400" dirty="0">
                <a:solidFill>
                  <a:schemeClr val="tx1">
                    <a:lumMod val="50000"/>
                    <a:lumOff val="50000"/>
                  </a:schemeClr>
                </a:solidFill>
              </a:rPr>
              <a:t> </a:t>
            </a:r>
            <a:r>
              <a:rPr lang="en-ID" sz="1400" dirty="0" err="1">
                <a:solidFill>
                  <a:schemeClr val="tx1">
                    <a:lumMod val="50000"/>
                    <a:lumOff val="50000"/>
                  </a:schemeClr>
                </a:solidFill>
              </a:rPr>
              <a:t>waktu</a:t>
            </a:r>
            <a:r>
              <a:rPr lang="en-ID" sz="1400" dirty="0">
                <a:solidFill>
                  <a:schemeClr val="tx1">
                    <a:lumMod val="50000"/>
                    <a:lumOff val="50000"/>
                  </a:schemeClr>
                </a:solidFill>
              </a:rPr>
              <a:t> </a:t>
            </a:r>
            <a:r>
              <a:rPr lang="en-ID" sz="1400" dirty="0" err="1">
                <a:solidFill>
                  <a:schemeClr val="tx1">
                    <a:lumMod val="50000"/>
                    <a:lumOff val="50000"/>
                  </a:schemeClr>
                </a:solidFill>
              </a:rPr>
              <a:t>ke</a:t>
            </a:r>
            <a:r>
              <a:rPr lang="en-ID" sz="1400" dirty="0">
                <a:solidFill>
                  <a:schemeClr val="tx1">
                    <a:lumMod val="50000"/>
                    <a:lumOff val="50000"/>
                  </a:schemeClr>
                </a:solidFill>
              </a:rPr>
              <a:t> </a:t>
            </a:r>
            <a:r>
              <a:rPr lang="en-ID" sz="1400" dirty="0" err="1">
                <a:solidFill>
                  <a:schemeClr val="tx1">
                    <a:lumMod val="50000"/>
                    <a:lumOff val="50000"/>
                  </a:schemeClr>
                </a:solidFill>
              </a:rPr>
              <a:t>waktu</a:t>
            </a:r>
            <a:r>
              <a:rPr lang="en-ID" sz="1400" dirty="0">
                <a:solidFill>
                  <a:schemeClr val="tx1">
                    <a:lumMod val="50000"/>
                    <a:lumOff val="50000"/>
                  </a:schemeClr>
                </a:solidFill>
              </a:rPr>
              <a:t>. Hasil </a:t>
            </a:r>
            <a:r>
              <a:rPr lang="en-ID" sz="1400" dirty="0" err="1">
                <a:solidFill>
                  <a:schemeClr val="tx1">
                    <a:lumMod val="50000"/>
                    <a:lumOff val="50000"/>
                  </a:schemeClr>
                </a:solidFill>
              </a:rPr>
              <a:t>analisis</a:t>
            </a:r>
            <a:r>
              <a:rPr lang="en-ID" sz="1400" dirty="0">
                <a:solidFill>
                  <a:schemeClr val="tx1">
                    <a:lumMod val="50000"/>
                    <a:lumOff val="50000"/>
                  </a:schemeClr>
                </a:solidFill>
              </a:rPr>
              <a:t> </a:t>
            </a:r>
            <a:r>
              <a:rPr lang="en-ID" sz="1400" dirty="0" err="1">
                <a:solidFill>
                  <a:schemeClr val="tx1">
                    <a:lumMod val="50000"/>
                    <a:lumOff val="50000"/>
                  </a:schemeClr>
                </a:solidFill>
              </a:rPr>
              <a:t>digunakan</a:t>
            </a:r>
            <a:r>
              <a:rPr lang="en-ID" sz="1400" dirty="0">
                <a:solidFill>
                  <a:schemeClr val="tx1">
                    <a:lumMod val="50000"/>
                    <a:lumOff val="50000"/>
                  </a:schemeClr>
                </a:solidFill>
              </a:rPr>
              <a:t> </a:t>
            </a:r>
            <a:r>
              <a:rPr lang="en-ID" sz="1400" dirty="0" err="1">
                <a:solidFill>
                  <a:schemeClr val="tx1">
                    <a:lumMod val="50000"/>
                    <a:lumOff val="50000"/>
                  </a:schemeClr>
                </a:solidFill>
              </a:rPr>
              <a:t>untuk</a:t>
            </a:r>
            <a:r>
              <a:rPr lang="en-ID" sz="1400" dirty="0">
                <a:solidFill>
                  <a:schemeClr val="tx1">
                    <a:lumMod val="50000"/>
                    <a:lumOff val="50000"/>
                  </a:schemeClr>
                </a:solidFill>
              </a:rPr>
              <a:t> </a:t>
            </a:r>
            <a:r>
              <a:rPr lang="en-ID" sz="1400" dirty="0" err="1">
                <a:solidFill>
                  <a:schemeClr val="tx1">
                    <a:lumMod val="50000"/>
                    <a:lumOff val="50000"/>
                  </a:schemeClr>
                </a:solidFill>
              </a:rPr>
              <a:t>mengidentifikasi</a:t>
            </a:r>
            <a:r>
              <a:rPr lang="en-ID" sz="1400" dirty="0">
                <a:solidFill>
                  <a:schemeClr val="tx1">
                    <a:lumMod val="50000"/>
                    <a:lumOff val="50000"/>
                  </a:schemeClr>
                </a:solidFill>
              </a:rPr>
              <a:t> </a:t>
            </a:r>
            <a:r>
              <a:rPr lang="en-ID" sz="1400" dirty="0" err="1">
                <a:solidFill>
                  <a:schemeClr val="tx1">
                    <a:lumMod val="50000"/>
                    <a:lumOff val="50000"/>
                  </a:schemeClr>
                </a:solidFill>
              </a:rPr>
              <a:t>periode</a:t>
            </a:r>
            <a:r>
              <a:rPr lang="en-ID" sz="1400" dirty="0">
                <a:solidFill>
                  <a:schemeClr val="tx1">
                    <a:lumMod val="50000"/>
                    <a:lumOff val="50000"/>
                  </a:schemeClr>
                </a:solidFill>
              </a:rPr>
              <a:t> </a:t>
            </a:r>
            <a:r>
              <a:rPr lang="en-ID" sz="1400" dirty="0" err="1">
                <a:solidFill>
                  <a:schemeClr val="tx1">
                    <a:lumMod val="50000"/>
                    <a:lumOff val="50000"/>
                  </a:schemeClr>
                </a:solidFill>
              </a:rPr>
              <a:t>penjualan</a:t>
            </a:r>
            <a:r>
              <a:rPr lang="en-ID" sz="1400" dirty="0">
                <a:solidFill>
                  <a:schemeClr val="tx1">
                    <a:lumMod val="50000"/>
                    <a:lumOff val="50000"/>
                  </a:schemeClr>
                </a:solidFill>
              </a:rPr>
              <a:t> </a:t>
            </a:r>
            <a:r>
              <a:rPr lang="en-ID" sz="1400" dirty="0" err="1">
                <a:solidFill>
                  <a:schemeClr val="tx1">
                    <a:lumMod val="50000"/>
                    <a:lumOff val="50000"/>
                  </a:schemeClr>
                </a:solidFill>
              </a:rPr>
              <a:t>tertinggi</a:t>
            </a:r>
            <a:r>
              <a:rPr lang="en-ID" sz="1400" dirty="0">
                <a:solidFill>
                  <a:schemeClr val="tx1">
                    <a:lumMod val="50000"/>
                    <a:lumOff val="50000"/>
                  </a:schemeClr>
                </a:solidFill>
              </a:rPr>
              <a:t> dan </a:t>
            </a:r>
            <a:r>
              <a:rPr lang="en-ID" sz="1400" dirty="0" err="1">
                <a:solidFill>
                  <a:schemeClr val="tx1">
                    <a:lumMod val="50000"/>
                    <a:lumOff val="50000"/>
                  </a:schemeClr>
                </a:solidFill>
              </a:rPr>
              <a:t>terendah</a:t>
            </a:r>
            <a:r>
              <a:rPr lang="en-ID" sz="1400" dirty="0">
                <a:solidFill>
                  <a:schemeClr val="tx1">
                    <a:lumMod val="50000"/>
                    <a:lumOff val="50000"/>
                  </a:schemeClr>
                </a:solidFill>
              </a:rPr>
              <a:t> </a:t>
            </a:r>
            <a:r>
              <a:rPr lang="en-ID" sz="1400" dirty="0" err="1">
                <a:solidFill>
                  <a:schemeClr val="tx1">
                    <a:lumMod val="50000"/>
                    <a:lumOff val="50000"/>
                  </a:schemeClr>
                </a:solidFill>
              </a:rPr>
              <a:t>serta</a:t>
            </a:r>
            <a:r>
              <a:rPr lang="en-ID" sz="1400" dirty="0">
                <a:solidFill>
                  <a:schemeClr val="tx1">
                    <a:lumMod val="50000"/>
                    <a:lumOff val="50000"/>
                  </a:schemeClr>
                </a:solidFill>
              </a:rPr>
              <a:t> </a:t>
            </a:r>
            <a:r>
              <a:rPr lang="en-ID" sz="1400" dirty="0" err="1">
                <a:solidFill>
                  <a:schemeClr val="tx1">
                    <a:lumMod val="50000"/>
                    <a:lumOff val="50000"/>
                  </a:schemeClr>
                </a:solidFill>
              </a:rPr>
              <a:t>mengevaluasi</a:t>
            </a:r>
            <a:r>
              <a:rPr lang="en-ID" sz="1400" dirty="0">
                <a:solidFill>
                  <a:schemeClr val="tx1">
                    <a:lumMod val="50000"/>
                    <a:lumOff val="50000"/>
                  </a:schemeClr>
                </a:solidFill>
              </a:rPr>
              <a:t> </a:t>
            </a:r>
            <a:r>
              <a:rPr lang="en-ID" sz="1400" dirty="0" err="1">
                <a:solidFill>
                  <a:schemeClr val="tx1">
                    <a:lumMod val="50000"/>
                    <a:lumOff val="50000"/>
                  </a:schemeClr>
                </a:solidFill>
              </a:rPr>
              <a:t>perkembangan</a:t>
            </a:r>
            <a:r>
              <a:rPr lang="en-ID" sz="1400" dirty="0">
                <a:solidFill>
                  <a:schemeClr val="tx1">
                    <a:lumMod val="50000"/>
                    <a:lumOff val="50000"/>
                  </a:schemeClr>
                </a:solidFill>
              </a:rPr>
              <a:t> </a:t>
            </a:r>
            <a:r>
              <a:rPr lang="en-ID" sz="1400" dirty="0" err="1">
                <a:solidFill>
                  <a:schemeClr val="tx1">
                    <a:lumMod val="50000"/>
                    <a:lumOff val="50000"/>
                  </a:schemeClr>
                </a:solidFill>
              </a:rPr>
              <a:t>penjualan</a:t>
            </a:r>
            <a:r>
              <a:rPr lang="en-ID" sz="1400" dirty="0">
                <a:solidFill>
                  <a:schemeClr val="tx1">
                    <a:lumMod val="50000"/>
                    <a:lumOff val="50000"/>
                  </a:schemeClr>
                </a:solidFill>
              </a:rPr>
              <a:t> Bike Store.</a:t>
            </a:r>
          </a:p>
        </p:txBody>
      </p:sp>
      <p:sp>
        <p:nvSpPr>
          <p:cNvPr id="23" name="TextBox 22">
            <a:extLst>
              <a:ext uri="{FF2B5EF4-FFF2-40B4-BE49-F238E27FC236}">
                <a16:creationId xmlns:a16="http://schemas.microsoft.com/office/drawing/2014/main" id="{4C8217D4-8376-8AC5-6CE2-43673D0B85DC}"/>
              </a:ext>
            </a:extLst>
          </p:cNvPr>
          <p:cNvSpPr txBox="1"/>
          <p:nvPr/>
        </p:nvSpPr>
        <p:spPr>
          <a:xfrm>
            <a:off x="720571" y="7244079"/>
            <a:ext cx="3470429" cy="353943"/>
          </a:xfrm>
          <a:prstGeom prst="rect">
            <a:avLst/>
          </a:prstGeom>
          <a:noFill/>
        </p:spPr>
        <p:txBody>
          <a:bodyPr wrap="square">
            <a:spAutoFit/>
          </a:bodyPr>
          <a:lstStyle/>
          <a:p>
            <a:pPr>
              <a:spcAft>
                <a:spcPts val="700"/>
              </a:spcAft>
              <a:defRPr sz="1700" b="1">
                <a:solidFill>
                  <a:srgbClr val="102C50"/>
                </a:solidFill>
                <a:latin typeface="Aptos"/>
              </a:defRPr>
            </a:pPr>
            <a:r>
              <a:rPr lang="en-ID" dirty="0"/>
              <a:t>SALES TREND QUERY</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E"/>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46304"/>
          </a:xfrm>
          <a:prstGeom prst="rect">
            <a:avLst/>
          </a:prstGeom>
          <a:solidFill>
            <a:srgbClr val="1675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9184"/>
            <a:ext cx="7315200" cy="274320"/>
          </a:xfrm>
          <a:prstGeom prst="rect">
            <a:avLst/>
          </a:prstGeom>
          <a:noFill/>
        </p:spPr>
        <p:txBody>
          <a:bodyPr wrap="square">
            <a:spAutoFit/>
          </a:bodyPr>
          <a:lstStyle/>
          <a:p>
            <a:pPr>
              <a:spcAft>
                <a:spcPts val="700"/>
              </a:spcAft>
              <a:defRPr sz="1000" b="1">
                <a:solidFill>
                  <a:srgbClr val="1675D1"/>
                </a:solidFill>
                <a:latin typeface="Aptos"/>
              </a:defRPr>
            </a:pPr>
            <a:r>
              <a:t>DATA ANALYTICS PORTFOLIO  /  BIKE STORE</a:t>
            </a:r>
          </a:p>
        </p:txBody>
      </p:sp>
      <p:sp>
        <p:nvSpPr>
          <p:cNvPr id="4" name="TextBox 3"/>
          <p:cNvSpPr txBox="1"/>
          <p:nvPr/>
        </p:nvSpPr>
        <p:spPr>
          <a:xfrm>
            <a:off x="502920" y="859536"/>
            <a:ext cx="8138160" cy="731520"/>
          </a:xfrm>
          <a:prstGeom prst="rect">
            <a:avLst/>
          </a:prstGeom>
          <a:noFill/>
        </p:spPr>
        <p:txBody>
          <a:bodyPr wrap="square">
            <a:spAutoFit/>
          </a:bodyPr>
          <a:lstStyle/>
          <a:p>
            <a:pPr>
              <a:spcAft>
                <a:spcPts val="700"/>
              </a:spcAft>
              <a:defRPr sz="3000" b="1">
                <a:solidFill>
                  <a:srgbClr val="102C50"/>
                </a:solidFill>
                <a:latin typeface="Aptos"/>
              </a:defRPr>
            </a:pPr>
            <a:r>
              <a:t>SQL Results</a:t>
            </a:r>
          </a:p>
        </p:txBody>
      </p:sp>
      <p:sp>
        <p:nvSpPr>
          <p:cNvPr id="6" name="TextBox 5"/>
          <p:cNvSpPr txBox="1"/>
          <p:nvPr/>
        </p:nvSpPr>
        <p:spPr>
          <a:xfrm>
            <a:off x="7909560" y="10991088"/>
            <a:ext cx="731520" cy="228600"/>
          </a:xfrm>
          <a:prstGeom prst="rect">
            <a:avLst/>
          </a:prstGeom>
          <a:noFill/>
        </p:spPr>
        <p:txBody>
          <a:bodyPr wrap="square">
            <a:spAutoFit/>
          </a:bodyPr>
          <a:lstStyle/>
          <a:p>
            <a:pPr>
              <a:spcAft>
                <a:spcPts val="700"/>
              </a:spcAft>
              <a:defRPr sz="1000" b="1">
                <a:solidFill>
                  <a:srgbClr val="64748B"/>
                </a:solidFill>
                <a:latin typeface="Aptos"/>
              </a:defRPr>
            </a:pPr>
            <a:r>
              <a:t>04 / 08</a:t>
            </a:r>
          </a:p>
        </p:txBody>
      </p:sp>
      <p:sp>
        <p:nvSpPr>
          <p:cNvPr id="7" name="Rounded Rectangle 6"/>
          <p:cNvSpPr/>
          <p:nvPr/>
        </p:nvSpPr>
        <p:spPr>
          <a:xfrm>
            <a:off x="502920" y="1597864"/>
            <a:ext cx="3931920" cy="4016957"/>
          </a:xfrm>
          <a:prstGeom prst="roundRect">
            <a:avLst/>
          </a:prstGeom>
          <a:solidFill>
            <a:srgbClr val="EAF3FC"/>
          </a:solidFill>
          <a:ln>
            <a:solidFill>
              <a:srgbClr val="91BD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1" y="1718007"/>
            <a:ext cx="3383279" cy="594360"/>
          </a:xfrm>
          <a:prstGeom prst="rect">
            <a:avLst/>
          </a:prstGeom>
          <a:noFill/>
        </p:spPr>
        <p:txBody>
          <a:bodyPr wrap="square">
            <a:spAutoFit/>
          </a:bodyPr>
          <a:lstStyle/>
          <a:p>
            <a:pPr algn="ctr">
              <a:spcAft>
                <a:spcPts val="700"/>
              </a:spcAft>
              <a:defRPr sz="1900" b="1">
                <a:solidFill>
                  <a:srgbClr val="102C50"/>
                </a:solidFill>
                <a:latin typeface="Aptos"/>
              </a:defRPr>
            </a:pPr>
            <a:r>
              <a:rPr dirty="0"/>
              <a:t>SS 02 — TOP PRODUCTS</a:t>
            </a:r>
          </a:p>
        </p:txBody>
      </p:sp>
      <p:sp>
        <p:nvSpPr>
          <p:cNvPr id="11" name="Rounded Rectangle 10"/>
          <p:cNvSpPr/>
          <p:nvPr/>
        </p:nvSpPr>
        <p:spPr>
          <a:xfrm>
            <a:off x="4709160" y="1597864"/>
            <a:ext cx="3931920" cy="4016957"/>
          </a:xfrm>
          <a:prstGeom prst="roundRect">
            <a:avLst/>
          </a:prstGeom>
          <a:solidFill>
            <a:srgbClr val="EAF3FC"/>
          </a:solidFill>
          <a:ln>
            <a:solidFill>
              <a:srgbClr val="91BD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904741" y="1777697"/>
            <a:ext cx="3383279" cy="323165"/>
          </a:xfrm>
          <a:prstGeom prst="rect">
            <a:avLst/>
          </a:prstGeom>
          <a:noFill/>
        </p:spPr>
        <p:txBody>
          <a:bodyPr wrap="square">
            <a:spAutoFit/>
          </a:bodyPr>
          <a:lstStyle/>
          <a:p>
            <a:pPr algn="ctr">
              <a:spcAft>
                <a:spcPts val="700"/>
              </a:spcAft>
              <a:defRPr sz="1900" b="1">
                <a:solidFill>
                  <a:srgbClr val="102C50"/>
                </a:solidFill>
                <a:latin typeface="Aptos"/>
              </a:defRPr>
            </a:pPr>
            <a:r>
              <a:rPr sz="1500" dirty="0"/>
              <a:t>03 — STORE PERFORMANCE</a:t>
            </a:r>
          </a:p>
        </p:txBody>
      </p:sp>
      <p:sp>
        <p:nvSpPr>
          <p:cNvPr id="15" name="Rounded Rectangle 14"/>
          <p:cNvSpPr/>
          <p:nvPr/>
        </p:nvSpPr>
        <p:spPr>
          <a:xfrm>
            <a:off x="502920" y="5782832"/>
            <a:ext cx="3931920" cy="4186667"/>
          </a:xfrm>
          <a:prstGeom prst="roundRect">
            <a:avLst/>
          </a:prstGeom>
          <a:solidFill>
            <a:srgbClr val="EAF3FC"/>
          </a:solidFill>
          <a:ln>
            <a:solidFill>
              <a:srgbClr val="91BD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3513" y="5969611"/>
            <a:ext cx="3383279" cy="384721"/>
          </a:xfrm>
          <a:prstGeom prst="rect">
            <a:avLst/>
          </a:prstGeom>
          <a:noFill/>
        </p:spPr>
        <p:txBody>
          <a:bodyPr wrap="square">
            <a:spAutoFit/>
          </a:bodyPr>
          <a:lstStyle/>
          <a:p>
            <a:pPr algn="ctr">
              <a:spcAft>
                <a:spcPts val="700"/>
              </a:spcAft>
              <a:defRPr sz="1900" b="1">
                <a:solidFill>
                  <a:srgbClr val="102C50"/>
                </a:solidFill>
                <a:latin typeface="Aptos"/>
              </a:defRPr>
            </a:pPr>
            <a:r>
              <a:rPr dirty="0"/>
              <a:t>04 — CATEGORY SALES</a:t>
            </a:r>
          </a:p>
        </p:txBody>
      </p:sp>
      <p:sp>
        <p:nvSpPr>
          <p:cNvPr id="19" name="Rounded Rectangle 18"/>
          <p:cNvSpPr/>
          <p:nvPr/>
        </p:nvSpPr>
        <p:spPr>
          <a:xfrm>
            <a:off x="4709160" y="5782832"/>
            <a:ext cx="3931920" cy="4186667"/>
          </a:xfrm>
          <a:prstGeom prst="roundRect">
            <a:avLst/>
          </a:prstGeom>
          <a:solidFill>
            <a:srgbClr val="EAF3FC"/>
          </a:solidFill>
          <a:ln>
            <a:solidFill>
              <a:srgbClr val="91BD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983479" y="5919948"/>
            <a:ext cx="3383279" cy="384721"/>
          </a:xfrm>
          <a:prstGeom prst="rect">
            <a:avLst/>
          </a:prstGeom>
          <a:noFill/>
        </p:spPr>
        <p:txBody>
          <a:bodyPr wrap="square">
            <a:spAutoFit/>
          </a:bodyPr>
          <a:lstStyle/>
          <a:p>
            <a:pPr algn="ctr">
              <a:spcAft>
                <a:spcPts val="700"/>
              </a:spcAft>
              <a:defRPr sz="1900" b="1">
                <a:solidFill>
                  <a:srgbClr val="102C50"/>
                </a:solidFill>
                <a:latin typeface="Aptos"/>
              </a:defRPr>
            </a:pPr>
            <a:r>
              <a:rPr dirty="0"/>
              <a:t>05 — STOCK OR DISCOUNT</a:t>
            </a:r>
          </a:p>
        </p:txBody>
      </p:sp>
      <p:sp>
        <p:nvSpPr>
          <p:cNvPr id="23" name="TextBox 22"/>
          <p:cNvSpPr txBox="1"/>
          <p:nvPr/>
        </p:nvSpPr>
        <p:spPr>
          <a:xfrm>
            <a:off x="594360" y="10104120"/>
            <a:ext cx="8046720" cy="411480"/>
          </a:xfrm>
          <a:prstGeom prst="rect">
            <a:avLst/>
          </a:prstGeom>
          <a:noFill/>
        </p:spPr>
        <p:txBody>
          <a:bodyPr wrap="square">
            <a:spAutoFit/>
          </a:bodyPr>
          <a:lstStyle/>
          <a:p>
            <a:pPr>
              <a:spcAft>
                <a:spcPts val="700"/>
              </a:spcAft>
              <a:defRPr sz="1200" b="0">
                <a:solidFill>
                  <a:srgbClr val="64748B"/>
                </a:solidFill>
                <a:latin typeface="Aptos"/>
              </a:defRPr>
            </a:pPr>
            <a:r>
              <a:t>Tip: Crop empty SSMS panels and keep column names + result values legible.</a:t>
            </a:r>
          </a:p>
        </p:txBody>
      </p:sp>
      <p:pic>
        <p:nvPicPr>
          <p:cNvPr id="25" name="Picture 24">
            <a:extLst>
              <a:ext uri="{FF2B5EF4-FFF2-40B4-BE49-F238E27FC236}">
                <a16:creationId xmlns:a16="http://schemas.microsoft.com/office/drawing/2014/main" id="{A61A8A64-0E7B-B624-E7AD-459F44FA57B9}"/>
              </a:ext>
            </a:extLst>
          </p:cNvPr>
          <p:cNvPicPr>
            <a:picLocks noChangeAspect="1"/>
          </p:cNvPicPr>
          <p:nvPr/>
        </p:nvPicPr>
        <p:blipFill>
          <a:blip r:embed="rId2"/>
          <a:stretch>
            <a:fillRect/>
          </a:stretch>
        </p:blipFill>
        <p:spPr>
          <a:xfrm>
            <a:off x="1201876" y="2078474"/>
            <a:ext cx="2600701" cy="1942606"/>
          </a:xfrm>
          <a:prstGeom prst="rect">
            <a:avLst/>
          </a:prstGeom>
        </p:spPr>
      </p:pic>
      <p:pic>
        <p:nvPicPr>
          <p:cNvPr id="27" name="Picture 26">
            <a:extLst>
              <a:ext uri="{FF2B5EF4-FFF2-40B4-BE49-F238E27FC236}">
                <a16:creationId xmlns:a16="http://schemas.microsoft.com/office/drawing/2014/main" id="{A0AB2AB6-42DB-89C3-6911-F048529FB823}"/>
              </a:ext>
            </a:extLst>
          </p:cNvPr>
          <p:cNvPicPr>
            <a:picLocks noChangeAspect="1"/>
          </p:cNvPicPr>
          <p:nvPr/>
        </p:nvPicPr>
        <p:blipFill>
          <a:blip r:embed="rId3"/>
          <a:stretch>
            <a:fillRect/>
          </a:stretch>
        </p:blipFill>
        <p:spPr>
          <a:xfrm>
            <a:off x="777238" y="4160820"/>
            <a:ext cx="3383280" cy="1314261"/>
          </a:xfrm>
          <a:prstGeom prst="rect">
            <a:avLst/>
          </a:prstGeom>
        </p:spPr>
      </p:pic>
      <p:pic>
        <p:nvPicPr>
          <p:cNvPr id="29" name="Picture 28">
            <a:extLst>
              <a:ext uri="{FF2B5EF4-FFF2-40B4-BE49-F238E27FC236}">
                <a16:creationId xmlns:a16="http://schemas.microsoft.com/office/drawing/2014/main" id="{6C89BB2B-CEC6-3525-3AEA-187352D5B35C}"/>
              </a:ext>
            </a:extLst>
          </p:cNvPr>
          <p:cNvPicPr>
            <a:picLocks noChangeAspect="1"/>
          </p:cNvPicPr>
          <p:nvPr/>
        </p:nvPicPr>
        <p:blipFill>
          <a:blip r:embed="rId4"/>
          <a:stretch>
            <a:fillRect/>
          </a:stretch>
        </p:blipFill>
        <p:spPr>
          <a:xfrm>
            <a:off x="4904741" y="2100862"/>
            <a:ext cx="3507284" cy="2172046"/>
          </a:xfrm>
          <a:prstGeom prst="rect">
            <a:avLst/>
          </a:prstGeom>
        </p:spPr>
      </p:pic>
      <p:pic>
        <p:nvPicPr>
          <p:cNvPr id="31" name="Picture 30">
            <a:extLst>
              <a:ext uri="{FF2B5EF4-FFF2-40B4-BE49-F238E27FC236}">
                <a16:creationId xmlns:a16="http://schemas.microsoft.com/office/drawing/2014/main" id="{D277F629-2155-E02E-EB8E-5DB2F4E20800}"/>
              </a:ext>
            </a:extLst>
          </p:cNvPr>
          <p:cNvPicPr>
            <a:picLocks noChangeAspect="1"/>
          </p:cNvPicPr>
          <p:nvPr/>
        </p:nvPicPr>
        <p:blipFill>
          <a:blip r:embed="rId5"/>
          <a:stretch>
            <a:fillRect/>
          </a:stretch>
        </p:blipFill>
        <p:spPr>
          <a:xfrm>
            <a:off x="4890301" y="4372229"/>
            <a:ext cx="3621266" cy="1007659"/>
          </a:xfrm>
          <a:prstGeom prst="rect">
            <a:avLst/>
          </a:prstGeom>
        </p:spPr>
      </p:pic>
      <p:pic>
        <p:nvPicPr>
          <p:cNvPr id="33" name="Picture 32">
            <a:extLst>
              <a:ext uri="{FF2B5EF4-FFF2-40B4-BE49-F238E27FC236}">
                <a16:creationId xmlns:a16="http://schemas.microsoft.com/office/drawing/2014/main" id="{8B839C47-BBA5-BCD0-4FC1-E32432013CB0}"/>
              </a:ext>
            </a:extLst>
          </p:cNvPr>
          <p:cNvPicPr>
            <a:picLocks noChangeAspect="1"/>
          </p:cNvPicPr>
          <p:nvPr/>
        </p:nvPicPr>
        <p:blipFill>
          <a:blip r:embed="rId6"/>
          <a:stretch>
            <a:fillRect/>
          </a:stretch>
        </p:blipFill>
        <p:spPr>
          <a:xfrm>
            <a:off x="1201875" y="6291568"/>
            <a:ext cx="2600701" cy="2154489"/>
          </a:xfrm>
          <a:prstGeom prst="rect">
            <a:avLst/>
          </a:prstGeom>
        </p:spPr>
      </p:pic>
      <p:pic>
        <p:nvPicPr>
          <p:cNvPr id="35" name="Picture 34">
            <a:extLst>
              <a:ext uri="{FF2B5EF4-FFF2-40B4-BE49-F238E27FC236}">
                <a16:creationId xmlns:a16="http://schemas.microsoft.com/office/drawing/2014/main" id="{7737B393-DEE9-ED51-750B-554B8FE5DE3C}"/>
              </a:ext>
            </a:extLst>
          </p:cNvPr>
          <p:cNvPicPr>
            <a:picLocks noChangeAspect="1"/>
          </p:cNvPicPr>
          <p:nvPr/>
        </p:nvPicPr>
        <p:blipFill>
          <a:blip r:embed="rId7"/>
          <a:stretch>
            <a:fillRect/>
          </a:stretch>
        </p:blipFill>
        <p:spPr>
          <a:xfrm>
            <a:off x="777241" y="8510379"/>
            <a:ext cx="3279714" cy="1313130"/>
          </a:xfrm>
          <a:prstGeom prst="rect">
            <a:avLst/>
          </a:prstGeom>
        </p:spPr>
      </p:pic>
      <p:pic>
        <p:nvPicPr>
          <p:cNvPr id="37" name="Picture 36">
            <a:extLst>
              <a:ext uri="{FF2B5EF4-FFF2-40B4-BE49-F238E27FC236}">
                <a16:creationId xmlns:a16="http://schemas.microsoft.com/office/drawing/2014/main" id="{A5A0E45D-04DA-4DB7-E486-677C1EF7BED0}"/>
              </a:ext>
            </a:extLst>
          </p:cNvPr>
          <p:cNvPicPr>
            <a:picLocks noChangeAspect="1"/>
          </p:cNvPicPr>
          <p:nvPr/>
        </p:nvPicPr>
        <p:blipFill>
          <a:blip r:embed="rId8"/>
          <a:stretch>
            <a:fillRect/>
          </a:stretch>
        </p:blipFill>
        <p:spPr>
          <a:xfrm>
            <a:off x="5333396" y="6253867"/>
            <a:ext cx="2759956" cy="2508340"/>
          </a:xfrm>
          <a:prstGeom prst="rect">
            <a:avLst/>
          </a:prstGeom>
        </p:spPr>
      </p:pic>
      <p:pic>
        <p:nvPicPr>
          <p:cNvPr id="39" name="Picture 38">
            <a:extLst>
              <a:ext uri="{FF2B5EF4-FFF2-40B4-BE49-F238E27FC236}">
                <a16:creationId xmlns:a16="http://schemas.microsoft.com/office/drawing/2014/main" id="{9F725548-8101-0259-5CF2-EFFB8B8A8EE5}"/>
              </a:ext>
            </a:extLst>
          </p:cNvPr>
          <p:cNvPicPr>
            <a:picLocks noChangeAspect="1"/>
          </p:cNvPicPr>
          <p:nvPr/>
        </p:nvPicPr>
        <p:blipFill>
          <a:blip r:embed="rId9"/>
          <a:stretch>
            <a:fillRect/>
          </a:stretch>
        </p:blipFill>
        <p:spPr>
          <a:xfrm>
            <a:off x="4983479" y="8839454"/>
            <a:ext cx="3395812" cy="8401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E"/>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46304"/>
          </a:xfrm>
          <a:prstGeom prst="rect">
            <a:avLst/>
          </a:prstGeom>
          <a:solidFill>
            <a:srgbClr val="1675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9184"/>
            <a:ext cx="7315200" cy="274320"/>
          </a:xfrm>
          <a:prstGeom prst="rect">
            <a:avLst/>
          </a:prstGeom>
          <a:noFill/>
        </p:spPr>
        <p:txBody>
          <a:bodyPr wrap="square">
            <a:spAutoFit/>
          </a:bodyPr>
          <a:lstStyle/>
          <a:p>
            <a:pPr>
              <a:spcAft>
                <a:spcPts val="700"/>
              </a:spcAft>
              <a:defRPr sz="1000" b="1">
                <a:solidFill>
                  <a:srgbClr val="1675D1"/>
                </a:solidFill>
                <a:latin typeface="Aptos"/>
              </a:defRPr>
            </a:pPr>
            <a:r>
              <a:t>DATA ANALYTICS PORTFOLIO  /  BIKE STORE</a:t>
            </a:r>
          </a:p>
        </p:txBody>
      </p:sp>
      <p:sp>
        <p:nvSpPr>
          <p:cNvPr id="4" name="TextBox 3"/>
          <p:cNvSpPr txBox="1"/>
          <p:nvPr/>
        </p:nvSpPr>
        <p:spPr>
          <a:xfrm>
            <a:off x="502920" y="859536"/>
            <a:ext cx="8138160" cy="731520"/>
          </a:xfrm>
          <a:prstGeom prst="rect">
            <a:avLst/>
          </a:prstGeom>
          <a:noFill/>
        </p:spPr>
        <p:txBody>
          <a:bodyPr wrap="square">
            <a:spAutoFit/>
          </a:bodyPr>
          <a:lstStyle/>
          <a:p>
            <a:pPr>
              <a:spcAft>
                <a:spcPts val="700"/>
              </a:spcAft>
              <a:defRPr sz="3000" b="1">
                <a:solidFill>
                  <a:srgbClr val="102C50"/>
                </a:solidFill>
                <a:latin typeface="Aptos"/>
              </a:defRPr>
            </a:pPr>
            <a:r>
              <a:t>Looker Studio Dashboard</a:t>
            </a:r>
          </a:p>
        </p:txBody>
      </p:sp>
      <p:sp>
        <p:nvSpPr>
          <p:cNvPr id="6" name="TextBox 5"/>
          <p:cNvSpPr txBox="1"/>
          <p:nvPr/>
        </p:nvSpPr>
        <p:spPr>
          <a:xfrm>
            <a:off x="7909560" y="10991088"/>
            <a:ext cx="731520" cy="228600"/>
          </a:xfrm>
          <a:prstGeom prst="rect">
            <a:avLst/>
          </a:prstGeom>
          <a:noFill/>
        </p:spPr>
        <p:txBody>
          <a:bodyPr wrap="square">
            <a:spAutoFit/>
          </a:bodyPr>
          <a:lstStyle/>
          <a:p>
            <a:pPr>
              <a:spcAft>
                <a:spcPts val="700"/>
              </a:spcAft>
              <a:defRPr sz="1000" b="1">
                <a:solidFill>
                  <a:srgbClr val="64748B"/>
                </a:solidFill>
                <a:latin typeface="Aptos"/>
              </a:defRPr>
            </a:pPr>
            <a:r>
              <a:t>05 / 08</a:t>
            </a:r>
          </a:p>
        </p:txBody>
      </p:sp>
      <p:sp>
        <p:nvSpPr>
          <p:cNvPr id="7" name="Rounded Rectangle 6"/>
          <p:cNvSpPr/>
          <p:nvPr/>
        </p:nvSpPr>
        <p:spPr>
          <a:xfrm>
            <a:off x="502920" y="1598244"/>
            <a:ext cx="8138160" cy="6631356"/>
          </a:xfrm>
          <a:prstGeom prst="roundRect">
            <a:avLst/>
          </a:prstGeom>
          <a:solidFill>
            <a:srgbClr val="EAF3FC"/>
          </a:solidFill>
          <a:ln>
            <a:solidFill>
              <a:srgbClr val="91BDE7"/>
            </a:solidFill>
          </a:ln>
        </p:spPr>
        <p:style>
          <a:lnRef idx="1">
            <a:schemeClr val="accent1"/>
          </a:lnRef>
          <a:fillRef idx="3">
            <a:schemeClr val="accent1"/>
          </a:fillRef>
          <a:effectRef idx="2">
            <a:schemeClr val="accent1"/>
          </a:effectRef>
          <a:fontRef idx="minor">
            <a:schemeClr val="lt1"/>
          </a:fontRef>
        </p:style>
        <p:txBody>
          <a:bodyPr rtlCol="0" anchor="ctr"/>
          <a:lstStyle/>
          <a:p>
            <a:endParaRPr lang="en-ID" dirty="0"/>
          </a:p>
        </p:txBody>
      </p:sp>
      <p:sp>
        <p:nvSpPr>
          <p:cNvPr id="9" name="TextBox 8"/>
          <p:cNvSpPr txBox="1"/>
          <p:nvPr/>
        </p:nvSpPr>
        <p:spPr>
          <a:xfrm>
            <a:off x="731520" y="1917941"/>
            <a:ext cx="7589520" cy="384721"/>
          </a:xfrm>
          <a:prstGeom prst="rect">
            <a:avLst/>
          </a:prstGeom>
          <a:noFill/>
        </p:spPr>
        <p:txBody>
          <a:bodyPr wrap="square">
            <a:spAutoFit/>
          </a:bodyPr>
          <a:lstStyle/>
          <a:p>
            <a:pPr algn="ctr">
              <a:spcAft>
                <a:spcPts val="700"/>
              </a:spcAft>
              <a:defRPr sz="1900" b="1">
                <a:solidFill>
                  <a:srgbClr val="102C50"/>
                </a:solidFill>
                <a:latin typeface="Aptos"/>
              </a:defRPr>
            </a:pPr>
            <a:r>
              <a:rPr dirty="0"/>
              <a:t>06 — FULL DASHBOARD</a:t>
            </a:r>
          </a:p>
        </p:txBody>
      </p:sp>
      <p:sp>
        <p:nvSpPr>
          <p:cNvPr id="11" name="Rounded Rectangle 10"/>
          <p:cNvSpPr/>
          <p:nvPr/>
        </p:nvSpPr>
        <p:spPr>
          <a:xfrm>
            <a:off x="548640" y="8803716"/>
            <a:ext cx="8138160" cy="1078992"/>
          </a:xfrm>
          <a:prstGeom prst="roundRect">
            <a:avLst/>
          </a:prstGeom>
          <a:solidFill>
            <a:srgbClr val="EAF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9078036"/>
            <a:ext cx="7589520" cy="594360"/>
          </a:xfrm>
          <a:prstGeom prst="rect">
            <a:avLst/>
          </a:prstGeom>
          <a:noFill/>
        </p:spPr>
        <p:txBody>
          <a:bodyPr wrap="square">
            <a:spAutoFit/>
          </a:bodyPr>
          <a:lstStyle/>
          <a:p>
            <a:pPr>
              <a:spcAft>
                <a:spcPts val="700"/>
              </a:spcAft>
              <a:defRPr sz="1500" b="1">
                <a:solidFill>
                  <a:srgbClr val="102C50"/>
                </a:solidFill>
                <a:latin typeface="Aptos"/>
              </a:defRPr>
            </a:pPr>
            <a:r>
              <a:t>Suggested KPIs: Total Sales  •  Total Orders  •  Total Customers  •  Total Products</a:t>
            </a:r>
          </a:p>
        </p:txBody>
      </p:sp>
      <p:pic>
        <p:nvPicPr>
          <p:cNvPr id="14" name="Picture 13">
            <a:extLst>
              <a:ext uri="{FF2B5EF4-FFF2-40B4-BE49-F238E27FC236}">
                <a16:creationId xmlns:a16="http://schemas.microsoft.com/office/drawing/2014/main" id="{A2F362B8-C705-CCE6-589E-E1B720330C3B}"/>
              </a:ext>
            </a:extLst>
          </p:cNvPr>
          <p:cNvPicPr>
            <a:picLocks noChangeAspect="1"/>
          </p:cNvPicPr>
          <p:nvPr/>
        </p:nvPicPr>
        <p:blipFill>
          <a:blip r:embed="rId2"/>
          <a:srcRect/>
          <a:stretch>
            <a:fillRect/>
          </a:stretch>
        </p:blipFill>
        <p:spPr>
          <a:xfrm>
            <a:off x="1273005" y="2665878"/>
            <a:ext cx="6597989" cy="502945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E"/>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46304"/>
          </a:xfrm>
          <a:prstGeom prst="rect">
            <a:avLst/>
          </a:prstGeom>
          <a:solidFill>
            <a:srgbClr val="1675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9184"/>
            <a:ext cx="7315200" cy="274320"/>
          </a:xfrm>
          <a:prstGeom prst="rect">
            <a:avLst/>
          </a:prstGeom>
          <a:noFill/>
        </p:spPr>
        <p:txBody>
          <a:bodyPr wrap="square">
            <a:spAutoFit/>
          </a:bodyPr>
          <a:lstStyle/>
          <a:p>
            <a:pPr>
              <a:spcAft>
                <a:spcPts val="700"/>
              </a:spcAft>
              <a:defRPr sz="1000" b="1">
                <a:solidFill>
                  <a:srgbClr val="1675D1"/>
                </a:solidFill>
                <a:latin typeface="Aptos"/>
              </a:defRPr>
            </a:pPr>
            <a:r>
              <a:t>DATA ANALYTICS PORTFOLIO  /  BIKE STORE</a:t>
            </a:r>
          </a:p>
        </p:txBody>
      </p:sp>
      <p:sp>
        <p:nvSpPr>
          <p:cNvPr id="4" name="TextBox 3"/>
          <p:cNvSpPr txBox="1"/>
          <p:nvPr/>
        </p:nvSpPr>
        <p:spPr>
          <a:xfrm>
            <a:off x="502920" y="859536"/>
            <a:ext cx="8138160" cy="731520"/>
          </a:xfrm>
          <a:prstGeom prst="rect">
            <a:avLst/>
          </a:prstGeom>
          <a:noFill/>
        </p:spPr>
        <p:txBody>
          <a:bodyPr wrap="square">
            <a:spAutoFit/>
          </a:bodyPr>
          <a:lstStyle/>
          <a:p>
            <a:pPr>
              <a:spcAft>
                <a:spcPts val="700"/>
              </a:spcAft>
              <a:defRPr sz="3000" b="1">
                <a:solidFill>
                  <a:srgbClr val="102C50"/>
                </a:solidFill>
                <a:latin typeface="Aptos"/>
              </a:defRPr>
            </a:pPr>
            <a:r>
              <a:rPr dirty="0"/>
              <a:t>Dashboard Interactivity</a:t>
            </a:r>
          </a:p>
        </p:txBody>
      </p:sp>
      <p:sp>
        <p:nvSpPr>
          <p:cNvPr id="6" name="TextBox 5"/>
          <p:cNvSpPr txBox="1"/>
          <p:nvPr/>
        </p:nvSpPr>
        <p:spPr>
          <a:xfrm>
            <a:off x="7909560" y="10991088"/>
            <a:ext cx="731520" cy="228600"/>
          </a:xfrm>
          <a:prstGeom prst="rect">
            <a:avLst/>
          </a:prstGeom>
          <a:noFill/>
        </p:spPr>
        <p:txBody>
          <a:bodyPr wrap="square">
            <a:spAutoFit/>
          </a:bodyPr>
          <a:lstStyle/>
          <a:p>
            <a:pPr>
              <a:spcAft>
                <a:spcPts val="700"/>
              </a:spcAft>
              <a:defRPr sz="1000" b="1">
                <a:solidFill>
                  <a:srgbClr val="64748B"/>
                </a:solidFill>
                <a:latin typeface="Aptos"/>
              </a:defRPr>
            </a:pPr>
            <a:r>
              <a:t>06 / 08</a:t>
            </a:r>
          </a:p>
        </p:txBody>
      </p:sp>
      <p:sp>
        <p:nvSpPr>
          <p:cNvPr id="7" name="Rounded Rectangle 6"/>
          <p:cNvSpPr/>
          <p:nvPr/>
        </p:nvSpPr>
        <p:spPr>
          <a:xfrm>
            <a:off x="502920" y="1725108"/>
            <a:ext cx="8138160" cy="4824924"/>
          </a:xfrm>
          <a:prstGeom prst="roundRect">
            <a:avLst/>
          </a:prstGeom>
          <a:solidFill>
            <a:srgbClr val="EAF3FC"/>
          </a:solidFill>
          <a:ln>
            <a:solidFill>
              <a:srgbClr val="91BD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906979"/>
            <a:ext cx="7589520" cy="384721"/>
          </a:xfrm>
          <a:prstGeom prst="rect">
            <a:avLst/>
          </a:prstGeom>
          <a:noFill/>
        </p:spPr>
        <p:txBody>
          <a:bodyPr wrap="square">
            <a:spAutoFit/>
          </a:bodyPr>
          <a:lstStyle/>
          <a:p>
            <a:pPr algn="ctr">
              <a:spcAft>
                <a:spcPts val="700"/>
              </a:spcAft>
              <a:defRPr sz="1900" b="1">
                <a:solidFill>
                  <a:srgbClr val="102C50"/>
                </a:solidFill>
                <a:latin typeface="Aptos"/>
              </a:defRPr>
            </a:pPr>
            <a:r>
              <a:rPr dirty="0"/>
              <a:t>07 — FILTERED DASHBOARD</a:t>
            </a:r>
          </a:p>
        </p:txBody>
      </p:sp>
      <p:sp>
        <p:nvSpPr>
          <p:cNvPr id="11" name="Rounded Rectangle 10"/>
          <p:cNvSpPr/>
          <p:nvPr/>
        </p:nvSpPr>
        <p:spPr>
          <a:xfrm>
            <a:off x="502920" y="6678048"/>
            <a:ext cx="8138160" cy="2834640"/>
          </a:xfrm>
          <a:prstGeom prst="roundRect">
            <a:avLst/>
          </a:prstGeom>
          <a:solidFill>
            <a:srgbClr val="FFFFFF"/>
          </a:solidFill>
          <a:ln>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6842640"/>
            <a:ext cx="7680960" cy="365760"/>
          </a:xfrm>
          <a:prstGeom prst="rect">
            <a:avLst/>
          </a:prstGeom>
          <a:noFill/>
        </p:spPr>
        <p:txBody>
          <a:bodyPr wrap="square">
            <a:spAutoFit/>
          </a:bodyPr>
          <a:lstStyle/>
          <a:p>
            <a:pPr>
              <a:spcAft>
                <a:spcPts val="700"/>
              </a:spcAft>
              <a:defRPr sz="1700" b="1">
                <a:solidFill>
                  <a:srgbClr val="102C50"/>
                </a:solidFill>
                <a:latin typeface="Aptos"/>
              </a:defRPr>
            </a:pPr>
            <a:r>
              <a:rPr dirty="0"/>
              <a:t>WHAT TO EXPLAIN</a:t>
            </a:r>
          </a:p>
        </p:txBody>
      </p:sp>
      <p:sp>
        <p:nvSpPr>
          <p:cNvPr id="13" name="TextBox 12"/>
          <p:cNvSpPr txBox="1"/>
          <p:nvPr/>
        </p:nvSpPr>
        <p:spPr>
          <a:xfrm>
            <a:off x="731520" y="7336416"/>
            <a:ext cx="7680960" cy="1569660"/>
          </a:xfrm>
          <a:prstGeom prst="rect">
            <a:avLst/>
          </a:prstGeom>
          <a:noFill/>
        </p:spPr>
        <p:txBody>
          <a:bodyPr wrap="square">
            <a:spAutoFit/>
          </a:bodyPr>
          <a:lstStyle/>
          <a:p>
            <a:pPr marL="285750" lvl="0" indent="-285750" algn="just">
              <a:buFont typeface="Arial" panose="020B0604020202020204" pitchFamily="34" charset="0"/>
              <a:buChar char="•"/>
            </a:pPr>
            <a:r>
              <a:rPr lang="en-ID" sz="1600" b="1" dirty="0">
                <a:solidFill>
                  <a:schemeClr val="tx1">
                    <a:lumMod val="50000"/>
                    <a:lumOff val="50000"/>
                  </a:schemeClr>
                </a:solidFill>
                <a:latin typeface="Aptos" panose="020B0004020202020204" pitchFamily="34" charset="0"/>
              </a:rPr>
              <a:t>Date Range Control:</a:t>
            </a:r>
            <a:r>
              <a:rPr lang="en-ID" sz="1600" dirty="0">
                <a:solidFill>
                  <a:schemeClr val="tx1">
                    <a:lumMod val="50000"/>
                    <a:lumOff val="50000"/>
                  </a:schemeClr>
                </a:solidFill>
                <a:latin typeface="Aptos" panose="020B0004020202020204" pitchFamily="34" charset="0"/>
              </a:rPr>
              <a:t> </a:t>
            </a:r>
            <a:r>
              <a:rPr lang="en-ID" sz="1600" dirty="0" err="1">
                <a:solidFill>
                  <a:schemeClr val="tx1">
                    <a:lumMod val="50000"/>
                    <a:lumOff val="50000"/>
                  </a:schemeClr>
                </a:solidFill>
                <a:latin typeface="Aptos" panose="020B0004020202020204" pitchFamily="34" charset="0"/>
              </a:rPr>
              <a:t>Memilih</a:t>
            </a:r>
            <a:r>
              <a:rPr lang="en-ID" sz="1600" dirty="0">
                <a:solidFill>
                  <a:schemeClr val="tx1">
                    <a:lumMod val="50000"/>
                    <a:lumOff val="50000"/>
                  </a:schemeClr>
                </a:solidFill>
                <a:latin typeface="Aptos" panose="020B0004020202020204" pitchFamily="34" charset="0"/>
              </a:rPr>
              <a:t> </a:t>
            </a:r>
            <a:r>
              <a:rPr lang="en-ID" sz="1600" dirty="0" err="1">
                <a:solidFill>
                  <a:schemeClr val="tx1">
                    <a:lumMod val="50000"/>
                    <a:lumOff val="50000"/>
                  </a:schemeClr>
                </a:solidFill>
                <a:latin typeface="Aptos" panose="020B0004020202020204" pitchFamily="34" charset="0"/>
              </a:rPr>
              <a:t>periode</a:t>
            </a:r>
            <a:r>
              <a:rPr lang="en-ID" sz="1600" dirty="0">
                <a:solidFill>
                  <a:schemeClr val="tx1">
                    <a:lumMod val="50000"/>
                    <a:lumOff val="50000"/>
                  </a:schemeClr>
                </a:solidFill>
                <a:latin typeface="Aptos" panose="020B0004020202020204" pitchFamily="34" charset="0"/>
              </a:rPr>
              <a:t> </a:t>
            </a:r>
            <a:r>
              <a:rPr lang="en-ID" sz="1600" dirty="0" err="1">
                <a:solidFill>
                  <a:schemeClr val="tx1">
                    <a:lumMod val="50000"/>
                    <a:lumOff val="50000"/>
                  </a:schemeClr>
                </a:solidFill>
                <a:latin typeface="Aptos" panose="020B0004020202020204" pitchFamily="34" charset="0"/>
              </a:rPr>
              <a:t>penjualan</a:t>
            </a:r>
            <a:r>
              <a:rPr lang="en-ID" sz="1600" dirty="0">
                <a:solidFill>
                  <a:schemeClr val="tx1">
                    <a:lumMod val="50000"/>
                    <a:lumOff val="50000"/>
                  </a:schemeClr>
                </a:solidFill>
                <a:latin typeface="Aptos" panose="020B0004020202020204" pitchFamily="34" charset="0"/>
              </a:rPr>
              <a:t> yang </a:t>
            </a:r>
            <a:r>
              <a:rPr lang="en-ID" sz="1600" dirty="0" err="1">
                <a:solidFill>
                  <a:schemeClr val="tx1">
                    <a:lumMod val="50000"/>
                    <a:lumOff val="50000"/>
                  </a:schemeClr>
                </a:solidFill>
                <a:latin typeface="Aptos" panose="020B0004020202020204" pitchFamily="34" charset="0"/>
              </a:rPr>
              <a:t>ingin</a:t>
            </a:r>
            <a:r>
              <a:rPr lang="en-ID" sz="1600" dirty="0">
                <a:solidFill>
                  <a:schemeClr val="tx1">
                    <a:lumMod val="50000"/>
                    <a:lumOff val="50000"/>
                  </a:schemeClr>
                </a:solidFill>
                <a:latin typeface="Aptos" panose="020B0004020202020204" pitchFamily="34" charset="0"/>
              </a:rPr>
              <a:t> </a:t>
            </a:r>
            <a:r>
              <a:rPr lang="en-ID" sz="1600" dirty="0" err="1">
                <a:solidFill>
                  <a:schemeClr val="tx1">
                    <a:lumMod val="50000"/>
                    <a:lumOff val="50000"/>
                  </a:schemeClr>
                </a:solidFill>
                <a:latin typeface="Aptos" panose="020B0004020202020204" pitchFamily="34" charset="0"/>
              </a:rPr>
              <a:t>dianalisis</a:t>
            </a:r>
            <a:r>
              <a:rPr lang="en-ID" sz="1600" dirty="0">
                <a:solidFill>
                  <a:schemeClr val="tx1">
                    <a:lumMod val="50000"/>
                    <a:lumOff val="50000"/>
                  </a:schemeClr>
                </a:solidFill>
                <a:latin typeface="Aptos" panose="020B0004020202020204" pitchFamily="34" charset="0"/>
              </a:rPr>
              <a:t>.</a:t>
            </a:r>
          </a:p>
          <a:p>
            <a:pPr marL="285750" lvl="0" indent="-285750" algn="just">
              <a:buFont typeface="Arial" panose="020B0604020202020204" pitchFamily="34" charset="0"/>
              <a:buChar char="•"/>
            </a:pPr>
            <a:r>
              <a:rPr lang="en-ID" sz="1600" b="1" dirty="0">
                <a:solidFill>
                  <a:schemeClr val="tx1">
                    <a:lumMod val="50000"/>
                    <a:lumOff val="50000"/>
                  </a:schemeClr>
                </a:solidFill>
                <a:latin typeface="Aptos" panose="020B0004020202020204" pitchFamily="34" charset="0"/>
              </a:rPr>
              <a:t>Store Filter:</a:t>
            </a:r>
            <a:r>
              <a:rPr lang="en-ID" sz="1600" dirty="0">
                <a:solidFill>
                  <a:schemeClr val="tx1">
                    <a:lumMod val="50000"/>
                    <a:lumOff val="50000"/>
                  </a:schemeClr>
                </a:solidFill>
                <a:latin typeface="Aptos" panose="020B0004020202020204" pitchFamily="34" charset="0"/>
              </a:rPr>
              <a:t> </a:t>
            </a:r>
            <a:r>
              <a:rPr lang="en-ID" sz="1600" dirty="0" err="1">
                <a:solidFill>
                  <a:schemeClr val="tx1">
                    <a:lumMod val="50000"/>
                    <a:lumOff val="50000"/>
                  </a:schemeClr>
                </a:solidFill>
                <a:latin typeface="Aptos" panose="020B0004020202020204" pitchFamily="34" charset="0"/>
              </a:rPr>
              <a:t>Menampilkan</a:t>
            </a:r>
            <a:r>
              <a:rPr lang="en-ID" sz="1600" dirty="0">
                <a:solidFill>
                  <a:schemeClr val="tx1">
                    <a:lumMod val="50000"/>
                    <a:lumOff val="50000"/>
                  </a:schemeClr>
                </a:solidFill>
                <a:latin typeface="Aptos" panose="020B0004020202020204" pitchFamily="34" charset="0"/>
              </a:rPr>
              <a:t> </a:t>
            </a:r>
            <a:r>
              <a:rPr lang="en-ID" sz="1600" dirty="0" err="1">
                <a:solidFill>
                  <a:schemeClr val="tx1">
                    <a:lumMod val="50000"/>
                    <a:lumOff val="50000"/>
                  </a:schemeClr>
                </a:solidFill>
                <a:latin typeface="Aptos" panose="020B0004020202020204" pitchFamily="34" charset="0"/>
              </a:rPr>
              <a:t>performa</a:t>
            </a:r>
            <a:r>
              <a:rPr lang="en-ID" sz="1600" dirty="0">
                <a:solidFill>
                  <a:schemeClr val="tx1">
                    <a:lumMod val="50000"/>
                    <a:lumOff val="50000"/>
                  </a:schemeClr>
                </a:solidFill>
                <a:latin typeface="Aptos" panose="020B0004020202020204" pitchFamily="34" charset="0"/>
              </a:rPr>
              <a:t> </a:t>
            </a:r>
            <a:r>
              <a:rPr lang="en-ID" sz="1600" dirty="0" err="1">
                <a:solidFill>
                  <a:schemeClr val="tx1">
                    <a:lumMod val="50000"/>
                    <a:lumOff val="50000"/>
                  </a:schemeClr>
                </a:solidFill>
                <a:latin typeface="Aptos" panose="020B0004020202020204" pitchFamily="34" charset="0"/>
              </a:rPr>
              <a:t>penjualan</a:t>
            </a:r>
            <a:r>
              <a:rPr lang="en-ID" sz="1600" dirty="0">
                <a:solidFill>
                  <a:schemeClr val="tx1">
                    <a:lumMod val="50000"/>
                    <a:lumOff val="50000"/>
                  </a:schemeClr>
                </a:solidFill>
                <a:latin typeface="Aptos" panose="020B0004020202020204" pitchFamily="34" charset="0"/>
              </a:rPr>
              <a:t> </a:t>
            </a:r>
            <a:r>
              <a:rPr lang="en-ID" sz="1600" dirty="0" err="1">
                <a:solidFill>
                  <a:schemeClr val="tx1">
                    <a:lumMod val="50000"/>
                    <a:lumOff val="50000"/>
                  </a:schemeClr>
                </a:solidFill>
                <a:latin typeface="Aptos" panose="020B0004020202020204" pitchFamily="34" charset="0"/>
              </a:rPr>
              <a:t>berdasarkan</a:t>
            </a:r>
            <a:r>
              <a:rPr lang="en-ID" sz="1600" dirty="0">
                <a:solidFill>
                  <a:schemeClr val="tx1">
                    <a:lumMod val="50000"/>
                    <a:lumOff val="50000"/>
                  </a:schemeClr>
                </a:solidFill>
                <a:latin typeface="Aptos" panose="020B0004020202020204" pitchFamily="34" charset="0"/>
              </a:rPr>
              <a:t> toko </a:t>
            </a:r>
            <a:r>
              <a:rPr lang="en-ID" sz="1600" dirty="0" err="1">
                <a:solidFill>
                  <a:schemeClr val="tx1">
                    <a:lumMod val="50000"/>
                    <a:lumOff val="50000"/>
                  </a:schemeClr>
                </a:solidFill>
                <a:latin typeface="Aptos" panose="020B0004020202020204" pitchFamily="34" charset="0"/>
              </a:rPr>
              <a:t>tertentu</a:t>
            </a:r>
            <a:r>
              <a:rPr lang="en-ID" sz="1600" dirty="0">
                <a:solidFill>
                  <a:schemeClr val="tx1">
                    <a:lumMod val="50000"/>
                    <a:lumOff val="50000"/>
                  </a:schemeClr>
                </a:solidFill>
                <a:latin typeface="Aptos" panose="020B0004020202020204" pitchFamily="34" charset="0"/>
              </a:rPr>
              <a:t>.</a:t>
            </a:r>
          </a:p>
          <a:p>
            <a:pPr marL="285750" lvl="0" indent="-285750" algn="just">
              <a:buFont typeface="Arial" panose="020B0604020202020204" pitchFamily="34" charset="0"/>
              <a:buChar char="•"/>
            </a:pPr>
            <a:r>
              <a:rPr lang="en-ID" sz="1600" b="1" dirty="0">
                <a:solidFill>
                  <a:schemeClr val="tx1">
                    <a:lumMod val="50000"/>
                    <a:lumOff val="50000"/>
                  </a:schemeClr>
                </a:solidFill>
                <a:latin typeface="Aptos" panose="020B0004020202020204" pitchFamily="34" charset="0"/>
              </a:rPr>
              <a:t>Category Filter:</a:t>
            </a:r>
            <a:r>
              <a:rPr lang="en-ID" sz="1600" dirty="0">
                <a:solidFill>
                  <a:schemeClr val="tx1">
                    <a:lumMod val="50000"/>
                    <a:lumOff val="50000"/>
                  </a:schemeClr>
                </a:solidFill>
                <a:latin typeface="Aptos" panose="020B0004020202020204" pitchFamily="34" charset="0"/>
              </a:rPr>
              <a:t> </a:t>
            </a:r>
            <a:r>
              <a:rPr lang="en-ID" sz="1600" dirty="0" err="1">
                <a:solidFill>
                  <a:schemeClr val="tx1">
                    <a:lumMod val="50000"/>
                    <a:lumOff val="50000"/>
                  </a:schemeClr>
                </a:solidFill>
                <a:latin typeface="Aptos" panose="020B0004020202020204" pitchFamily="34" charset="0"/>
              </a:rPr>
              <a:t>Menganalisis</a:t>
            </a:r>
            <a:r>
              <a:rPr lang="en-ID" sz="1600" dirty="0">
                <a:solidFill>
                  <a:schemeClr val="tx1">
                    <a:lumMod val="50000"/>
                    <a:lumOff val="50000"/>
                  </a:schemeClr>
                </a:solidFill>
                <a:latin typeface="Aptos" panose="020B0004020202020204" pitchFamily="34" charset="0"/>
              </a:rPr>
              <a:t> </a:t>
            </a:r>
            <a:r>
              <a:rPr lang="en-ID" sz="1600" dirty="0" err="1">
                <a:solidFill>
                  <a:schemeClr val="tx1">
                    <a:lumMod val="50000"/>
                    <a:lumOff val="50000"/>
                  </a:schemeClr>
                </a:solidFill>
                <a:latin typeface="Aptos" panose="020B0004020202020204" pitchFamily="34" charset="0"/>
              </a:rPr>
              <a:t>penjualan</a:t>
            </a:r>
            <a:r>
              <a:rPr lang="en-ID" sz="1600" dirty="0">
                <a:solidFill>
                  <a:schemeClr val="tx1">
                    <a:lumMod val="50000"/>
                    <a:lumOff val="50000"/>
                  </a:schemeClr>
                </a:solidFill>
                <a:latin typeface="Aptos" panose="020B0004020202020204" pitchFamily="34" charset="0"/>
              </a:rPr>
              <a:t> </a:t>
            </a:r>
            <a:r>
              <a:rPr lang="en-ID" sz="1600" dirty="0" err="1">
                <a:solidFill>
                  <a:schemeClr val="tx1">
                    <a:lumMod val="50000"/>
                    <a:lumOff val="50000"/>
                  </a:schemeClr>
                </a:solidFill>
                <a:latin typeface="Aptos" panose="020B0004020202020204" pitchFamily="34" charset="0"/>
              </a:rPr>
              <a:t>berdasarkan</a:t>
            </a:r>
            <a:r>
              <a:rPr lang="en-ID" sz="1600" dirty="0">
                <a:solidFill>
                  <a:schemeClr val="tx1">
                    <a:lumMod val="50000"/>
                    <a:lumOff val="50000"/>
                  </a:schemeClr>
                </a:solidFill>
                <a:latin typeface="Aptos" panose="020B0004020202020204" pitchFamily="34" charset="0"/>
              </a:rPr>
              <a:t> </a:t>
            </a:r>
            <a:r>
              <a:rPr lang="en-ID" sz="1600" dirty="0" err="1">
                <a:solidFill>
                  <a:schemeClr val="tx1">
                    <a:lumMod val="50000"/>
                    <a:lumOff val="50000"/>
                  </a:schemeClr>
                </a:solidFill>
                <a:latin typeface="Aptos" panose="020B0004020202020204" pitchFamily="34" charset="0"/>
              </a:rPr>
              <a:t>kategori</a:t>
            </a:r>
            <a:r>
              <a:rPr lang="en-ID" sz="1600" dirty="0">
                <a:solidFill>
                  <a:schemeClr val="tx1">
                    <a:lumMod val="50000"/>
                    <a:lumOff val="50000"/>
                  </a:schemeClr>
                </a:solidFill>
                <a:latin typeface="Aptos" panose="020B0004020202020204" pitchFamily="34" charset="0"/>
              </a:rPr>
              <a:t> </a:t>
            </a:r>
            <a:r>
              <a:rPr lang="en-ID" sz="1600" dirty="0" err="1">
                <a:solidFill>
                  <a:schemeClr val="tx1">
                    <a:lumMod val="50000"/>
                    <a:lumOff val="50000"/>
                  </a:schemeClr>
                </a:solidFill>
                <a:latin typeface="Aptos" panose="020B0004020202020204" pitchFamily="34" charset="0"/>
              </a:rPr>
              <a:t>produk</a:t>
            </a:r>
            <a:r>
              <a:rPr lang="en-ID" sz="1600" dirty="0">
                <a:solidFill>
                  <a:schemeClr val="tx1">
                    <a:lumMod val="50000"/>
                    <a:lumOff val="50000"/>
                  </a:schemeClr>
                </a:solidFill>
                <a:latin typeface="Aptos" panose="020B0004020202020204" pitchFamily="34" charset="0"/>
              </a:rPr>
              <a:t>.</a:t>
            </a:r>
          </a:p>
          <a:p>
            <a:pPr marL="285750" lvl="0" indent="-285750" algn="just">
              <a:buFont typeface="Arial" panose="020B0604020202020204" pitchFamily="34" charset="0"/>
              <a:buChar char="•"/>
            </a:pPr>
            <a:r>
              <a:rPr lang="en-ID" sz="1600" b="1" dirty="0">
                <a:solidFill>
                  <a:schemeClr val="tx1">
                    <a:lumMod val="50000"/>
                    <a:lumOff val="50000"/>
                  </a:schemeClr>
                </a:solidFill>
                <a:latin typeface="Aptos" panose="020B0004020202020204" pitchFamily="34" charset="0"/>
              </a:rPr>
              <a:t>Brand Filter:</a:t>
            </a:r>
            <a:r>
              <a:rPr lang="en-ID" sz="1600" dirty="0">
                <a:solidFill>
                  <a:schemeClr val="tx1">
                    <a:lumMod val="50000"/>
                    <a:lumOff val="50000"/>
                  </a:schemeClr>
                </a:solidFill>
                <a:latin typeface="Aptos" panose="020B0004020202020204" pitchFamily="34" charset="0"/>
              </a:rPr>
              <a:t> </a:t>
            </a:r>
            <a:r>
              <a:rPr lang="en-ID" sz="1600" dirty="0" err="1">
                <a:solidFill>
                  <a:schemeClr val="tx1">
                    <a:lumMod val="50000"/>
                    <a:lumOff val="50000"/>
                  </a:schemeClr>
                </a:solidFill>
                <a:latin typeface="Aptos" panose="020B0004020202020204" pitchFamily="34" charset="0"/>
              </a:rPr>
              <a:t>Melihat</a:t>
            </a:r>
            <a:r>
              <a:rPr lang="en-ID" sz="1600" dirty="0">
                <a:solidFill>
                  <a:schemeClr val="tx1">
                    <a:lumMod val="50000"/>
                    <a:lumOff val="50000"/>
                  </a:schemeClr>
                </a:solidFill>
                <a:latin typeface="Aptos" panose="020B0004020202020204" pitchFamily="34" charset="0"/>
              </a:rPr>
              <a:t> </a:t>
            </a:r>
            <a:r>
              <a:rPr lang="en-ID" sz="1600" dirty="0" err="1">
                <a:solidFill>
                  <a:schemeClr val="tx1">
                    <a:lumMod val="50000"/>
                    <a:lumOff val="50000"/>
                  </a:schemeClr>
                </a:solidFill>
                <a:latin typeface="Aptos" panose="020B0004020202020204" pitchFamily="34" charset="0"/>
              </a:rPr>
              <a:t>kontribusi</a:t>
            </a:r>
            <a:r>
              <a:rPr lang="en-ID" sz="1600" dirty="0">
                <a:solidFill>
                  <a:schemeClr val="tx1">
                    <a:lumMod val="50000"/>
                    <a:lumOff val="50000"/>
                  </a:schemeClr>
                </a:solidFill>
                <a:latin typeface="Aptos" panose="020B0004020202020204" pitchFamily="34" charset="0"/>
              </a:rPr>
              <a:t> </a:t>
            </a:r>
            <a:r>
              <a:rPr lang="en-ID" sz="1600" dirty="0" err="1">
                <a:solidFill>
                  <a:schemeClr val="tx1">
                    <a:lumMod val="50000"/>
                    <a:lumOff val="50000"/>
                  </a:schemeClr>
                </a:solidFill>
                <a:latin typeface="Aptos" panose="020B0004020202020204" pitchFamily="34" charset="0"/>
              </a:rPr>
              <a:t>penjualan</a:t>
            </a:r>
            <a:r>
              <a:rPr lang="en-ID" sz="1600" dirty="0">
                <a:solidFill>
                  <a:schemeClr val="tx1">
                    <a:lumMod val="50000"/>
                    <a:lumOff val="50000"/>
                  </a:schemeClr>
                </a:solidFill>
                <a:latin typeface="Aptos" panose="020B0004020202020204" pitchFamily="34" charset="0"/>
              </a:rPr>
              <a:t> </a:t>
            </a:r>
            <a:r>
              <a:rPr lang="en-ID" sz="1600" dirty="0" err="1">
                <a:solidFill>
                  <a:schemeClr val="tx1">
                    <a:lumMod val="50000"/>
                    <a:lumOff val="50000"/>
                  </a:schemeClr>
                </a:solidFill>
                <a:latin typeface="Aptos" panose="020B0004020202020204" pitchFamily="34" charset="0"/>
              </a:rPr>
              <a:t>dari</a:t>
            </a:r>
            <a:r>
              <a:rPr lang="en-ID" sz="1600" dirty="0">
                <a:solidFill>
                  <a:schemeClr val="tx1">
                    <a:lumMod val="50000"/>
                    <a:lumOff val="50000"/>
                  </a:schemeClr>
                </a:solidFill>
                <a:latin typeface="Aptos" panose="020B0004020202020204" pitchFamily="34" charset="0"/>
              </a:rPr>
              <a:t> </a:t>
            </a:r>
            <a:r>
              <a:rPr lang="en-ID" sz="1600" dirty="0" err="1">
                <a:solidFill>
                  <a:schemeClr val="tx1">
                    <a:lumMod val="50000"/>
                    <a:lumOff val="50000"/>
                  </a:schemeClr>
                </a:solidFill>
                <a:latin typeface="Aptos" panose="020B0004020202020204" pitchFamily="34" charset="0"/>
              </a:rPr>
              <a:t>merek</a:t>
            </a:r>
            <a:r>
              <a:rPr lang="en-ID" sz="1600" dirty="0">
                <a:solidFill>
                  <a:schemeClr val="tx1">
                    <a:lumMod val="50000"/>
                    <a:lumOff val="50000"/>
                  </a:schemeClr>
                </a:solidFill>
                <a:latin typeface="Aptos" panose="020B0004020202020204" pitchFamily="34" charset="0"/>
              </a:rPr>
              <a:t> </a:t>
            </a:r>
            <a:r>
              <a:rPr lang="en-ID" sz="1600" dirty="0" err="1">
                <a:solidFill>
                  <a:schemeClr val="tx1">
                    <a:lumMod val="50000"/>
                    <a:lumOff val="50000"/>
                  </a:schemeClr>
                </a:solidFill>
                <a:latin typeface="Aptos" panose="020B0004020202020204" pitchFamily="34" charset="0"/>
              </a:rPr>
              <a:t>tertentu</a:t>
            </a:r>
            <a:r>
              <a:rPr lang="en-ID" sz="1600" dirty="0">
                <a:solidFill>
                  <a:schemeClr val="tx1">
                    <a:lumMod val="50000"/>
                    <a:lumOff val="50000"/>
                  </a:schemeClr>
                </a:solidFill>
                <a:latin typeface="Aptos" panose="020B0004020202020204" pitchFamily="34" charset="0"/>
              </a:rPr>
              <a:t>.</a:t>
            </a:r>
          </a:p>
          <a:p>
            <a:pPr marL="285750" lvl="0" indent="-285750" algn="just">
              <a:buFont typeface="Arial" panose="020B0604020202020204" pitchFamily="34" charset="0"/>
              <a:buChar char="•"/>
            </a:pPr>
            <a:r>
              <a:rPr lang="en-ID" sz="1600" b="1" dirty="0">
                <a:solidFill>
                  <a:schemeClr val="tx1">
                    <a:lumMod val="50000"/>
                    <a:lumOff val="50000"/>
                  </a:schemeClr>
                </a:solidFill>
                <a:latin typeface="Aptos" panose="020B0004020202020204" pitchFamily="34" charset="0"/>
              </a:rPr>
              <a:t>Interactive Dashboard:</a:t>
            </a:r>
            <a:r>
              <a:rPr lang="en-ID" sz="1600" dirty="0">
                <a:solidFill>
                  <a:schemeClr val="tx1">
                    <a:lumMod val="50000"/>
                    <a:lumOff val="50000"/>
                  </a:schemeClr>
                </a:solidFill>
                <a:latin typeface="Aptos" panose="020B0004020202020204" pitchFamily="34" charset="0"/>
              </a:rPr>
              <a:t> KPI dan </a:t>
            </a:r>
            <a:r>
              <a:rPr lang="en-ID" sz="1600" dirty="0" err="1">
                <a:solidFill>
                  <a:schemeClr val="tx1">
                    <a:lumMod val="50000"/>
                    <a:lumOff val="50000"/>
                  </a:schemeClr>
                </a:solidFill>
                <a:latin typeface="Aptos" panose="020B0004020202020204" pitchFamily="34" charset="0"/>
              </a:rPr>
              <a:t>grafik</a:t>
            </a:r>
            <a:r>
              <a:rPr lang="en-ID" sz="1600" dirty="0">
                <a:solidFill>
                  <a:schemeClr val="tx1">
                    <a:lumMod val="50000"/>
                    <a:lumOff val="50000"/>
                  </a:schemeClr>
                </a:solidFill>
                <a:latin typeface="Aptos" panose="020B0004020202020204" pitchFamily="34" charset="0"/>
              </a:rPr>
              <a:t> </a:t>
            </a:r>
            <a:r>
              <a:rPr lang="en-ID" sz="1600" dirty="0" err="1">
                <a:solidFill>
                  <a:schemeClr val="tx1">
                    <a:lumMod val="50000"/>
                    <a:lumOff val="50000"/>
                  </a:schemeClr>
                </a:solidFill>
                <a:latin typeface="Aptos" panose="020B0004020202020204" pitchFamily="34" charset="0"/>
              </a:rPr>
              <a:t>menyesuaikan</a:t>
            </a:r>
            <a:r>
              <a:rPr lang="en-ID" sz="1600" dirty="0">
                <a:solidFill>
                  <a:schemeClr val="tx1">
                    <a:lumMod val="50000"/>
                    <a:lumOff val="50000"/>
                  </a:schemeClr>
                </a:solidFill>
                <a:latin typeface="Aptos" panose="020B0004020202020204" pitchFamily="34" charset="0"/>
              </a:rPr>
              <a:t> filter yang </a:t>
            </a:r>
            <a:r>
              <a:rPr lang="en-ID" sz="1600" dirty="0" err="1">
                <a:solidFill>
                  <a:schemeClr val="tx1">
                    <a:lumMod val="50000"/>
                    <a:lumOff val="50000"/>
                  </a:schemeClr>
                </a:solidFill>
                <a:latin typeface="Aptos" panose="020B0004020202020204" pitchFamily="34" charset="0"/>
              </a:rPr>
              <a:t>dipilih</a:t>
            </a:r>
            <a:r>
              <a:rPr lang="en-ID" sz="1600" dirty="0">
                <a:solidFill>
                  <a:schemeClr val="tx1">
                    <a:lumMod val="50000"/>
                    <a:lumOff val="50000"/>
                  </a:schemeClr>
                </a:solidFill>
                <a:latin typeface="Aptos" panose="020B0004020202020204" pitchFamily="34" charset="0"/>
              </a:rPr>
              <a:t> </a:t>
            </a:r>
            <a:r>
              <a:rPr lang="en-ID" sz="1600" dirty="0" err="1">
                <a:solidFill>
                  <a:schemeClr val="tx1">
                    <a:lumMod val="50000"/>
                    <a:lumOff val="50000"/>
                  </a:schemeClr>
                </a:solidFill>
                <a:latin typeface="Aptos" panose="020B0004020202020204" pitchFamily="34" charset="0"/>
              </a:rPr>
              <a:t>secara</a:t>
            </a:r>
            <a:r>
              <a:rPr lang="en-ID" sz="1600" dirty="0">
                <a:solidFill>
                  <a:schemeClr val="tx1">
                    <a:lumMod val="50000"/>
                    <a:lumOff val="50000"/>
                  </a:schemeClr>
                </a:solidFill>
                <a:latin typeface="Aptos" panose="020B0004020202020204" pitchFamily="34" charset="0"/>
              </a:rPr>
              <a:t> </a:t>
            </a:r>
            <a:r>
              <a:rPr lang="en-ID" sz="1600" dirty="0" err="1">
                <a:solidFill>
                  <a:schemeClr val="tx1">
                    <a:lumMod val="50000"/>
                    <a:lumOff val="50000"/>
                  </a:schemeClr>
                </a:solidFill>
                <a:latin typeface="Aptos" panose="020B0004020202020204" pitchFamily="34" charset="0"/>
              </a:rPr>
              <a:t>otomatis</a:t>
            </a:r>
            <a:r>
              <a:rPr lang="en-ID" sz="1600" dirty="0">
                <a:solidFill>
                  <a:schemeClr val="tx1">
                    <a:lumMod val="50000"/>
                    <a:lumOff val="50000"/>
                  </a:schemeClr>
                </a:solidFill>
                <a:latin typeface="Aptos" panose="020B0004020202020204" pitchFamily="34" charset="0"/>
              </a:rPr>
              <a:t>.</a:t>
            </a:r>
          </a:p>
        </p:txBody>
      </p:sp>
      <p:pic>
        <p:nvPicPr>
          <p:cNvPr id="19" name="Picture 18">
            <a:extLst>
              <a:ext uri="{FF2B5EF4-FFF2-40B4-BE49-F238E27FC236}">
                <a16:creationId xmlns:a16="http://schemas.microsoft.com/office/drawing/2014/main" id="{4454B63F-0391-A8E1-D134-0C7E78AB9433}"/>
              </a:ext>
            </a:extLst>
          </p:cNvPr>
          <p:cNvPicPr>
            <a:picLocks noChangeAspect="1"/>
          </p:cNvPicPr>
          <p:nvPr/>
        </p:nvPicPr>
        <p:blipFill>
          <a:blip r:embed="rId2"/>
          <a:stretch>
            <a:fillRect/>
          </a:stretch>
        </p:blipFill>
        <p:spPr>
          <a:xfrm>
            <a:off x="2170642" y="2419716"/>
            <a:ext cx="4802715" cy="36517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E"/>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46304"/>
          </a:xfrm>
          <a:prstGeom prst="rect">
            <a:avLst/>
          </a:prstGeom>
          <a:solidFill>
            <a:srgbClr val="1675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9184"/>
            <a:ext cx="7315200" cy="274320"/>
          </a:xfrm>
          <a:prstGeom prst="rect">
            <a:avLst/>
          </a:prstGeom>
          <a:noFill/>
        </p:spPr>
        <p:txBody>
          <a:bodyPr wrap="square">
            <a:spAutoFit/>
          </a:bodyPr>
          <a:lstStyle/>
          <a:p>
            <a:pPr>
              <a:spcAft>
                <a:spcPts val="700"/>
              </a:spcAft>
              <a:defRPr sz="1000" b="1">
                <a:solidFill>
                  <a:srgbClr val="1675D1"/>
                </a:solidFill>
                <a:latin typeface="Aptos"/>
              </a:defRPr>
            </a:pPr>
            <a:r>
              <a:t>DATA ANALYTICS PORTFOLIO  /  BIKE STORE</a:t>
            </a:r>
          </a:p>
        </p:txBody>
      </p:sp>
      <p:sp>
        <p:nvSpPr>
          <p:cNvPr id="4" name="TextBox 3"/>
          <p:cNvSpPr txBox="1"/>
          <p:nvPr/>
        </p:nvSpPr>
        <p:spPr>
          <a:xfrm>
            <a:off x="502920" y="859536"/>
            <a:ext cx="8138160" cy="731520"/>
          </a:xfrm>
          <a:prstGeom prst="rect">
            <a:avLst/>
          </a:prstGeom>
          <a:noFill/>
        </p:spPr>
        <p:txBody>
          <a:bodyPr wrap="square">
            <a:spAutoFit/>
          </a:bodyPr>
          <a:lstStyle/>
          <a:p>
            <a:pPr>
              <a:spcAft>
                <a:spcPts val="700"/>
              </a:spcAft>
              <a:defRPr sz="3000" b="1">
                <a:solidFill>
                  <a:srgbClr val="102C50"/>
                </a:solidFill>
                <a:latin typeface="Aptos"/>
              </a:defRPr>
            </a:pPr>
            <a:r>
              <a:t>Key Insights</a:t>
            </a:r>
          </a:p>
        </p:txBody>
      </p:sp>
      <p:sp>
        <p:nvSpPr>
          <p:cNvPr id="5" name="TextBox 4"/>
          <p:cNvSpPr txBox="1"/>
          <p:nvPr/>
        </p:nvSpPr>
        <p:spPr>
          <a:xfrm>
            <a:off x="521207" y="1673352"/>
            <a:ext cx="8138160" cy="640080"/>
          </a:xfrm>
          <a:prstGeom prst="rect">
            <a:avLst/>
          </a:prstGeom>
          <a:noFill/>
        </p:spPr>
        <p:txBody>
          <a:bodyPr wrap="square">
            <a:spAutoFit/>
          </a:bodyPr>
          <a:lstStyle/>
          <a:p>
            <a:pPr>
              <a:spcAft>
                <a:spcPts val="700"/>
              </a:spcAft>
              <a:defRPr sz="1300" b="0">
                <a:solidFill>
                  <a:srgbClr val="64748B"/>
                </a:solidFill>
                <a:latin typeface="Aptos"/>
              </a:defRPr>
            </a:pPr>
            <a:r>
              <a:rPr dirty="0"/>
              <a:t>Replace each prompt with a verified result from your SQL queries and dashboard.</a:t>
            </a:r>
          </a:p>
        </p:txBody>
      </p:sp>
      <p:sp>
        <p:nvSpPr>
          <p:cNvPr id="6" name="TextBox 5"/>
          <p:cNvSpPr txBox="1"/>
          <p:nvPr/>
        </p:nvSpPr>
        <p:spPr>
          <a:xfrm>
            <a:off x="7909560" y="10991088"/>
            <a:ext cx="731520" cy="228600"/>
          </a:xfrm>
          <a:prstGeom prst="rect">
            <a:avLst/>
          </a:prstGeom>
          <a:noFill/>
        </p:spPr>
        <p:txBody>
          <a:bodyPr wrap="square">
            <a:spAutoFit/>
          </a:bodyPr>
          <a:lstStyle/>
          <a:p>
            <a:pPr>
              <a:spcAft>
                <a:spcPts val="700"/>
              </a:spcAft>
              <a:defRPr sz="1000" b="1">
                <a:solidFill>
                  <a:srgbClr val="64748B"/>
                </a:solidFill>
                <a:latin typeface="Aptos"/>
              </a:defRPr>
            </a:pPr>
            <a:r>
              <a:t>07 / 08</a:t>
            </a:r>
          </a:p>
        </p:txBody>
      </p:sp>
      <p:sp>
        <p:nvSpPr>
          <p:cNvPr id="7" name="Rounded Rectangle 6"/>
          <p:cNvSpPr/>
          <p:nvPr/>
        </p:nvSpPr>
        <p:spPr>
          <a:xfrm>
            <a:off x="502920" y="2331720"/>
            <a:ext cx="8138160" cy="1773936"/>
          </a:xfrm>
          <a:prstGeom prst="roundRect">
            <a:avLst/>
          </a:prstGeom>
          <a:solidFill>
            <a:srgbClr val="FFFFFF"/>
          </a:solidFill>
          <a:ln>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496312"/>
            <a:ext cx="7680960" cy="365760"/>
          </a:xfrm>
          <a:prstGeom prst="rect">
            <a:avLst/>
          </a:prstGeom>
          <a:noFill/>
        </p:spPr>
        <p:txBody>
          <a:bodyPr wrap="square">
            <a:spAutoFit/>
          </a:bodyPr>
          <a:lstStyle/>
          <a:p>
            <a:pPr>
              <a:spcAft>
                <a:spcPts val="700"/>
              </a:spcAft>
              <a:defRPr sz="1700" b="1">
                <a:solidFill>
                  <a:srgbClr val="102C50"/>
                </a:solidFill>
                <a:latin typeface="Aptos"/>
              </a:defRPr>
            </a:pPr>
            <a:r>
              <a:t>01  SALES TREND</a:t>
            </a:r>
          </a:p>
        </p:txBody>
      </p:sp>
      <p:sp>
        <p:nvSpPr>
          <p:cNvPr id="9" name="TextBox 8"/>
          <p:cNvSpPr txBox="1"/>
          <p:nvPr/>
        </p:nvSpPr>
        <p:spPr>
          <a:xfrm>
            <a:off x="731520" y="2862072"/>
            <a:ext cx="7680960" cy="738664"/>
          </a:xfrm>
          <a:prstGeom prst="rect">
            <a:avLst/>
          </a:prstGeom>
          <a:noFill/>
        </p:spPr>
        <p:txBody>
          <a:bodyPr wrap="square">
            <a:spAutoFit/>
          </a:bodyPr>
          <a:lstStyle/>
          <a:p>
            <a:pPr>
              <a:spcAft>
                <a:spcPts val="700"/>
              </a:spcAft>
              <a:defRPr sz="1400" b="0">
                <a:solidFill>
                  <a:srgbClr val="64748B"/>
                </a:solidFill>
                <a:latin typeface="Aptos"/>
              </a:defRPr>
            </a:pPr>
            <a:r>
              <a:rPr lang="en-ID" sz="1400" dirty="0" err="1">
                <a:latin typeface="Aptos"/>
              </a:rPr>
              <a:t>Penjualan</a:t>
            </a:r>
            <a:r>
              <a:rPr lang="en-ID" sz="1400" dirty="0">
                <a:latin typeface="Aptos"/>
              </a:rPr>
              <a:t> Bike Store </a:t>
            </a:r>
            <a:r>
              <a:rPr lang="en-ID" sz="1400" dirty="0" err="1">
                <a:latin typeface="Aptos"/>
              </a:rPr>
              <a:t>mengalami</a:t>
            </a:r>
            <a:r>
              <a:rPr lang="en-ID" sz="1400" dirty="0">
                <a:latin typeface="Aptos"/>
              </a:rPr>
              <a:t> </a:t>
            </a:r>
            <a:r>
              <a:rPr lang="en-ID" sz="1400" dirty="0" err="1">
                <a:latin typeface="Aptos"/>
              </a:rPr>
              <a:t>fluktuasi</a:t>
            </a:r>
            <a:r>
              <a:rPr lang="en-ID" sz="1400" dirty="0">
                <a:latin typeface="Aptos"/>
              </a:rPr>
              <a:t> </a:t>
            </a:r>
            <a:r>
              <a:rPr lang="en-ID" sz="1400" dirty="0" err="1">
                <a:latin typeface="Aptos"/>
              </a:rPr>
              <a:t>dari</a:t>
            </a:r>
            <a:r>
              <a:rPr lang="en-ID" sz="1400" dirty="0">
                <a:latin typeface="Aptos"/>
              </a:rPr>
              <a:t> </a:t>
            </a:r>
            <a:r>
              <a:rPr lang="en-ID" sz="1400" dirty="0" err="1">
                <a:latin typeface="Aptos"/>
              </a:rPr>
              <a:t>tahun</a:t>
            </a:r>
            <a:r>
              <a:rPr lang="en-ID" sz="1400" dirty="0">
                <a:latin typeface="Aptos"/>
              </a:rPr>
              <a:t> </a:t>
            </a:r>
            <a:r>
              <a:rPr lang="en-ID" sz="1400" dirty="0" err="1">
                <a:latin typeface="Aptos"/>
              </a:rPr>
              <a:t>ke</a:t>
            </a:r>
            <a:r>
              <a:rPr lang="en-ID" sz="1400" dirty="0">
                <a:latin typeface="Aptos"/>
              </a:rPr>
              <a:t> </a:t>
            </a:r>
            <a:r>
              <a:rPr lang="en-ID" sz="1400" dirty="0" err="1">
                <a:latin typeface="Aptos"/>
              </a:rPr>
              <a:t>tahun</a:t>
            </a:r>
            <a:r>
              <a:rPr lang="en-ID" sz="1400" dirty="0">
                <a:latin typeface="Aptos"/>
              </a:rPr>
              <a:t>, </a:t>
            </a:r>
            <a:r>
              <a:rPr lang="en-ID" sz="1400" dirty="0" err="1">
                <a:latin typeface="Aptos"/>
              </a:rPr>
              <a:t>dengan</a:t>
            </a:r>
            <a:r>
              <a:rPr lang="en-ID" sz="1400" dirty="0">
                <a:latin typeface="Aptos"/>
              </a:rPr>
              <a:t> </a:t>
            </a:r>
            <a:r>
              <a:rPr lang="en-ID" sz="1400" dirty="0" err="1">
                <a:latin typeface="Aptos"/>
              </a:rPr>
              <a:t>periode</a:t>
            </a:r>
            <a:r>
              <a:rPr lang="en-ID" sz="1400" dirty="0">
                <a:latin typeface="Aptos"/>
              </a:rPr>
              <a:t> </a:t>
            </a:r>
            <a:r>
              <a:rPr lang="en-ID" sz="1400" dirty="0" err="1">
                <a:latin typeface="Aptos"/>
              </a:rPr>
              <a:t>tertentu</a:t>
            </a:r>
            <a:r>
              <a:rPr lang="en-ID" sz="1400" dirty="0">
                <a:latin typeface="Aptos"/>
              </a:rPr>
              <a:t> </a:t>
            </a:r>
            <a:r>
              <a:rPr lang="en-ID" sz="1400" dirty="0" err="1">
                <a:latin typeface="Aptos"/>
              </a:rPr>
              <a:t>mencatat</a:t>
            </a:r>
            <a:r>
              <a:rPr lang="en-ID" sz="1400" dirty="0">
                <a:latin typeface="Aptos"/>
              </a:rPr>
              <a:t> </a:t>
            </a:r>
            <a:r>
              <a:rPr lang="en-ID" sz="1400" dirty="0" err="1">
                <a:latin typeface="Aptos"/>
              </a:rPr>
              <a:t>pendapatan</a:t>
            </a:r>
            <a:r>
              <a:rPr lang="en-ID" sz="1400" dirty="0">
                <a:latin typeface="Aptos"/>
              </a:rPr>
              <a:t> </a:t>
            </a:r>
            <a:r>
              <a:rPr lang="en-ID" sz="1400" dirty="0" err="1">
                <a:latin typeface="Aptos"/>
              </a:rPr>
              <a:t>lebih</a:t>
            </a:r>
            <a:r>
              <a:rPr lang="en-ID" sz="1400" dirty="0">
                <a:latin typeface="Aptos"/>
              </a:rPr>
              <a:t> </a:t>
            </a:r>
            <a:r>
              <a:rPr lang="en-ID" sz="1400" dirty="0" err="1">
                <a:latin typeface="Aptos"/>
              </a:rPr>
              <a:t>tinggi</a:t>
            </a:r>
            <a:r>
              <a:rPr lang="en-ID" sz="1400" dirty="0">
                <a:latin typeface="Aptos"/>
              </a:rPr>
              <a:t> </a:t>
            </a:r>
            <a:r>
              <a:rPr lang="en-ID" sz="1400" dirty="0" err="1">
                <a:latin typeface="Aptos"/>
              </a:rPr>
              <a:t>dibandingkan</a:t>
            </a:r>
            <a:r>
              <a:rPr lang="en-ID" sz="1400" dirty="0">
                <a:latin typeface="Aptos"/>
              </a:rPr>
              <a:t> </a:t>
            </a:r>
            <a:r>
              <a:rPr lang="en-ID" sz="1400" dirty="0" err="1">
                <a:latin typeface="Aptos"/>
              </a:rPr>
              <a:t>periode</a:t>
            </a:r>
            <a:r>
              <a:rPr lang="en-ID" sz="1400" dirty="0">
                <a:latin typeface="Aptos"/>
              </a:rPr>
              <a:t> </a:t>
            </a:r>
            <a:r>
              <a:rPr lang="en-ID" sz="1400" dirty="0" err="1">
                <a:latin typeface="Aptos"/>
              </a:rPr>
              <a:t>lainnya</a:t>
            </a:r>
            <a:r>
              <a:rPr lang="en-ID" sz="1400" dirty="0">
                <a:latin typeface="Aptos"/>
              </a:rPr>
              <a:t>. Hal </a:t>
            </a:r>
            <a:r>
              <a:rPr lang="en-ID" sz="1400" dirty="0" err="1">
                <a:latin typeface="Aptos"/>
              </a:rPr>
              <a:t>ini</a:t>
            </a:r>
            <a:r>
              <a:rPr lang="en-ID" sz="1400" dirty="0">
                <a:latin typeface="Aptos"/>
              </a:rPr>
              <a:t> </a:t>
            </a:r>
            <a:r>
              <a:rPr lang="en-ID" sz="1400" dirty="0" err="1">
                <a:latin typeface="Aptos"/>
              </a:rPr>
              <a:t>menunjukkan</a:t>
            </a:r>
            <a:r>
              <a:rPr lang="en-ID" sz="1400" dirty="0">
                <a:latin typeface="Aptos"/>
              </a:rPr>
              <a:t> </a:t>
            </a:r>
            <a:r>
              <a:rPr lang="en-ID" sz="1400" dirty="0" err="1">
                <a:latin typeface="Aptos"/>
              </a:rPr>
              <a:t>bahwa</a:t>
            </a:r>
            <a:r>
              <a:rPr lang="en-ID" sz="1400" dirty="0">
                <a:latin typeface="Aptos"/>
              </a:rPr>
              <a:t> </a:t>
            </a:r>
            <a:r>
              <a:rPr lang="en-ID" sz="1400" dirty="0" err="1">
                <a:latin typeface="Aptos"/>
              </a:rPr>
              <a:t>pertumbuhan</a:t>
            </a:r>
            <a:r>
              <a:rPr lang="en-ID" sz="1400" dirty="0">
                <a:latin typeface="Aptos"/>
              </a:rPr>
              <a:t> </a:t>
            </a:r>
            <a:r>
              <a:rPr lang="en-ID" sz="1400" dirty="0" err="1">
                <a:latin typeface="Aptos"/>
              </a:rPr>
              <a:t>penjualan</a:t>
            </a:r>
            <a:r>
              <a:rPr lang="en-ID" sz="1400" dirty="0">
                <a:latin typeface="Aptos"/>
              </a:rPr>
              <a:t> </a:t>
            </a:r>
            <a:r>
              <a:rPr lang="en-ID" sz="1400" dirty="0" err="1">
                <a:latin typeface="Aptos"/>
              </a:rPr>
              <a:t>belum</a:t>
            </a:r>
            <a:r>
              <a:rPr lang="en-ID" sz="1400" dirty="0">
                <a:latin typeface="Aptos"/>
              </a:rPr>
              <a:t> </a:t>
            </a:r>
            <a:r>
              <a:rPr lang="en-ID" sz="1400" dirty="0" err="1">
                <a:latin typeface="Aptos"/>
              </a:rPr>
              <a:t>konsisten</a:t>
            </a:r>
            <a:r>
              <a:rPr lang="en-ID" sz="1400" dirty="0">
                <a:latin typeface="Aptos"/>
              </a:rPr>
              <a:t> dan </a:t>
            </a:r>
            <a:r>
              <a:rPr lang="en-ID" sz="1400" dirty="0" err="1">
                <a:latin typeface="Aptos"/>
              </a:rPr>
              <a:t>perlu</a:t>
            </a:r>
            <a:r>
              <a:rPr lang="en-ID" sz="1400" dirty="0">
                <a:latin typeface="Aptos"/>
              </a:rPr>
              <a:t> </a:t>
            </a:r>
            <a:r>
              <a:rPr lang="en-ID" sz="1400" dirty="0" err="1">
                <a:latin typeface="Aptos"/>
              </a:rPr>
              <a:t>dilakukan</a:t>
            </a:r>
            <a:r>
              <a:rPr lang="en-ID" sz="1400" dirty="0">
                <a:latin typeface="Aptos"/>
              </a:rPr>
              <a:t> </a:t>
            </a:r>
            <a:r>
              <a:rPr lang="en-ID" sz="1400" dirty="0" err="1">
                <a:latin typeface="Aptos"/>
              </a:rPr>
              <a:t>evaluasi</a:t>
            </a:r>
            <a:r>
              <a:rPr lang="en-ID" sz="1400" dirty="0">
                <a:latin typeface="Aptos"/>
              </a:rPr>
              <a:t> </a:t>
            </a:r>
            <a:r>
              <a:rPr lang="en-ID" sz="1400" dirty="0" err="1">
                <a:latin typeface="Aptos"/>
              </a:rPr>
              <a:t>untuk</a:t>
            </a:r>
            <a:r>
              <a:rPr lang="en-ID" sz="1400" dirty="0">
                <a:latin typeface="Aptos"/>
              </a:rPr>
              <a:t> </a:t>
            </a:r>
            <a:r>
              <a:rPr lang="en-ID" sz="1400" dirty="0" err="1">
                <a:latin typeface="Aptos"/>
              </a:rPr>
              <a:t>menjaga</a:t>
            </a:r>
            <a:r>
              <a:rPr lang="en-ID" sz="1400" dirty="0">
                <a:latin typeface="Aptos"/>
              </a:rPr>
              <a:t> </a:t>
            </a:r>
            <a:r>
              <a:rPr lang="en-ID" sz="1400" dirty="0" err="1">
                <a:latin typeface="Aptos"/>
              </a:rPr>
              <a:t>kestabilan</a:t>
            </a:r>
            <a:r>
              <a:rPr lang="en-ID" sz="1400" dirty="0">
                <a:latin typeface="Aptos"/>
              </a:rPr>
              <a:t> </a:t>
            </a:r>
            <a:r>
              <a:rPr lang="en-ID" sz="1400" dirty="0" err="1">
                <a:latin typeface="Aptos"/>
              </a:rPr>
              <a:t>pendapatan</a:t>
            </a:r>
            <a:r>
              <a:rPr lang="en-ID" sz="1400" dirty="0">
                <a:latin typeface="Aptos"/>
              </a:rPr>
              <a:t>.</a:t>
            </a:r>
          </a:p>
        </p:txBody>
      </p:sp>
      <p:sp>
        <p:nvSpPr>
          <p:cNvPr id="10" name="Rounded Rectangle 9"/>
          <p:cNvSpPr/>
          <p:nvPr/>
        </p:nvSpPr>
        <p:spPr>
          <a:xfrm>
            <a:off x="502920" y="4306824"/>
            <a:ext cx="8138160" cy="1773936"/>
          </a:xfrm>
          <a:prstGeom prst="roundRect">
            <a:avLst/>
          </a:prstGeom>
          <a:solidFill>
            <a:srgbClr val="FFFFFF"/>
          </a:solidFill>
          <a:ln>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4471416"/>
            <a:ext cx="7680960" cy="365760"/>
          </a:xfrm>
          <a:prstGeom prst="rect">
            <a:avLst/>
          </a:prstGeom>
          <a:noFill/>
        </p:spPr>
        <p:txBody>
          <a:bodyPr wrap="square">
            <a:spAutoFit/>
          </a:bodyPr>
          <a:lstStyle/>
          <a:p>
            <a:pPr>
              <a:spcAft>
                <a:spcPts val="700"/>
              </a:spcAft>
              <a:defRPr sz="1700" b="1">
                <a:solidFill>
                  <a:srgbClr val="102C50"/>
                </a:solidFill>
                <a:latin typeface="Aptos"/>
              </a:defRPr>
            </a:pPr>
            <a:r>
              <a:t>02  PRODUCT PERFORMANCE</a:t>
            </a:r>
          </a:p>
        </p:txBody>
      </p:sp>
      <p:sp>
        <p:nvSpPr>
          <p:cNvPr id="12" name="TextBox 11"/>
          <p:cNvSpPr txBox="1"/>
          <p:nvPr/>
        </p:nvSpPr>
        <p:spPr>
          <a:xfrm>
            <a:off x="731520" y="4828032"/>
            <a:ext cx="7680960" cy="954107"/>
          </a:xfrm>
          <a:prstGeom prst="rect">
            <a:avLst/>
          </a:prstGeom>
          <a:noFill/>
        </p:spPr>
        <p:txBody>
          <a:bodyPr wrap="square">
            <a:spAutoFit/>
          </a:bodyPr>
          <a:lstStyle/>
          <a:p>
            <a:pPr algn="just">
              <a:spcAft>
                <a:spcPts val="700"/>
              </a:spcAft>
              <a:defRPr sz="1400" b="0">
                <a:solidFill>
                  <a:srgbClr val="64748B"/>
                </a:solidFill>
                <a:latin typeface="Aptos"/>
              </a:defRPr>
            </a:pPr>
            <a:r>
              <a:rPr lang="en-ID" sz="1400" dirty="0" err="1">
                <a:solidFill>
                  <a:srgbClr val="64748B"/>
                </a:solidFill>
                <a:latin typeface="Aptos"/>
              </a:rPr>
              <a:t>Kategori</a:t>
            </a:r>
            <a:r>
              <a:rPr lang="en-ID" sz="1400" dirty="0">
                <a:solidFill>
                  <a:srgbClr val="64748B"/>
                </a:solidFill>
                <a:latin typeface="Aptos"/>
              </a:rPr>
              <a:t> Mountain Bikes </a:t>
            </a:r>
            <a:r>
              <a:rPr lang="en-ID" sz="1400" dirty="0" err="1">
                <a:solidFill>
                  <a:srgbClr val="64748B"/>
                </a:solidFill>
                <a:latin typeface="Aptos"/>
              </a:rPr>
              <a:t>menghasilkan</a:t>
            </a:r>
            <a:r>
              <a:rPr lang="en-ID" sz="1400" dirty="0">
                <a:solidFill>
                  <a:srgbClr val="64748B"/>
                </a:solidFill>
                <a:latin typeface="Aptos"/>
              </a:rPr>
              <a:t> </a:t>
            </a:r>
            <a:r>
              <a:rPr lang="en-ID" sz="1400" dirty="0" err="1">
                <a:solidFill>
                  <a:srgbClr val="64748B"/>
                </a:solidFill>
                <a:latin typeface="Aptos"/>
              </a:rPr>
              <a:t>pendapatan</a:t>
            </a:r>
            <a:r>
              <a:rPr lang="en-ID" sz="1400" dirty="0">
                <a:solidFill>
                  <a:srgbClr val="64748B"/>
                </a:solidFill>
                <a:latin typeface="Aptos"/>
              </a:rPr>
              <a:t> </a:t>
            </a:r>
            <a:r>
              <a:rPr lang="en-ID" sz="1400" dirty="0" err="1">
                <a:solidFill>
                  <a:srgbClr val="64748B"/>
                </a:solidFill>
                <a:latin typeface="Aptos"/>
              </a:rPr>
              <a:t>tertinggi</a:t>
            </a:r>
            <a:r>
              <a:rPr lang="en-ID" sz="1400" dirty="0">
                <a:solidFill>
                  <a:srgbClr val="64748B"/>
                </a:solidFill>
                <a:latin typeface="Aptos"/>
              </a:rPr>
              <a:t> </a:t>
            </a:r>
            <a:r>
              <a:rPr lang="en-ID" sz="1400" dirty="0" err="1">
                <a:solidFill>
                  <a:srgbClr val="64748B"/>
                </a:solidFill>
                <a:latin typeface="Aptos"/>
              </a:rPr>
              <a:t>dengan</a:t>
            </a:r>
            <a:r>
              <a:rPr lang="en-ID" sz="1400" dirty="0">
                <a:solidFill>
                  <a:srgbClr val="64748B"/>
                </a:solidFill>
                <a:latin typeface="Aptos"/>
              </a:rPr>
              <a:t> </a:t>
            </a:r>
            <a:r>
              <a:rPr lang="en-ID" sz="1400" dirty="0" err="1">
                <a:solidFill>
                  <a:srgbClr val="64748B"/>
                </a:solidFill>
                <a:latin typeface="Aptos"/>
              </a:rPr>
              <a:t>kontribusi</a:t>
            </a:r>
            <a:r>
              <a:rPr lang="en-ID" sz="1400" dirty="0">
                <a:solidFill>
                  <a:srgbClr val="64748B"/>
                </a:solidFill>
                <a:latin typeface="Aptos"/>
              </a:rPr>
              <a:t> </a:t>
            </a:r>
            <a:r>
              <a:rPr lang="en-ID" sz="1400" dirty="0" err="1">
                <a:solidFill>
                  <a:srgbClr val="64748B"/>
                </a:solidFill>
                <a:latin typeface="Aptos"/>
              </a:rPr>
              <a:t>sebesar</a:t>
            </a:r>
            <a:r>
              <a:rPr lang="en-ID" sz="1400" dirty="0">
                <a:solidFill>
                  <a:srgbClr val="64748B"/>
                </a:solidFill>
                <a:latin typeface="Aptos"/>
              </a:rPr>
              <a:t> 37,3% </a:t>
            </a:r>
            <a:r>
              <a:rPr lang="en-ID" sz="1400" dirty="0" err="1">
                <a:solidFill>
                  <a:srgbClr val="64748B"/>
                </a:solidFill>
                <a:latin typeface="Aptos"/>
              </a:rPr>
              <a:t>dari</a:t>
            </a:r>
            <a:r>
              <a:rPr lang="en-ID" sz="1400" dirty="0">
                <a:solidFill>
                  <a:srgbClr val="64748B"/>
                </a:solidFill>
                <a:latin typeface="Aptos"/>
              </a:rPr>
              <a:t> total revenue. </a:t>
            </a:r>
            <a:r>
              <a:rPr lang="en-ID" sz="1400" dirty="0" err="1">
                <a:solidFill>
                  <a:srgbClr val="64748B"/>
                </a:solidFill>
                <a:latin typeface="Aptos"/>
              </a:rPr>
              <a:t>Sementara</a:t>
            </a:r>
            <a:r>
              <a:rPr lang="en-ID" sz="1400" dirty="0">
                <a:solidFill>
                  <a:srgbClr val="64748B"/>
                </a:solidFill>
                <a:latin typeface="Aptos"/>
              </a:rPr>
              <a:t> </a:t>
            </a:r>
            <a:r>
              <a:rPr lang="en-ID" sz="1400" dirty="0" err="1">
                <a:solidFill>
                  <a:srgbClr val="64748B"/>
                </a:solidFill>
                <a:latin typeface="Aptos"/>
              </a:rPr>
              <a:t>itu</a:t>
            </a:r>
            <a:r>
              <a:rPr lang="en-ID" sz="1400" dirty="0">
                <a:solidFill>
                  <a:srgbClr val="64748B"/>
                </a:solidFill>
                <a:latin typeface="Aptos"/>
              </a:rPr>
              <a:t>, </a:t>
            </a:r>
            <a:r>
              <a:rPr lang="en-ID" sz="1400" dirty="0" err="1">
                <a:solidFill>
                  <a:srgbClr val="64748B"/>
                </a:solidFill>
                <a:latin typeface="Aptos"/>
              </a:rPr>
              <a:t>produk</a:t>
            </a:r>
            <a:r>
              <a:rPr lang="en-ID" sz="1400" dirty="0">
                <a:solidFill>
                  <a:srgbClr val="64748B"/>
                </a:solidFill>
                <a:latin typeface="Aptos"/>
              </a:rPr>
              <a:t> Trek Slash 8 27.5 - 2016 </a:t>
            </a:r>
            <a:r>
              <a:rPr lang="en-ID" sz="1400" dirty="0" err="1">
                <a:solidFill>
                  <a:srgbClr val="64748B"/>
                </a:solidFill>
                <a:latin typeface="Aptos"/>
              </a:rPr>
              <a:t>menjadi</a:t>
            </a:r>
            <a:r>
              <a:rPr lang="en-ID" sz="1400" dirty="0">
                <a:solidFill>
                  <a:srgbClr val="64748B"/>
                </a:solidFill>
                <a:latin typeface="Aptos"/>
              </a:rPr>
              <a:t> </a:t>
            </a:r>
            <a:r>
              <a:rPr lang="en-ID" sz="1400" dirty="0" err="1">
                <a:solidFill>
                  <a:srgbClr val="64748B"/>
                </a:solidFill>
                <a:latin typeface="Aptos"/>
              </a:rPr>
              <a:t>produk</a:t>
            </a:r>
            <a:r>
              <a:rPr lang="en-ID" sz="1400" dirty="0">
                <a:solidFill>
                  <a:srgbClr val="64748B"/>
                </a:solidFill>
                <a:latin typeface="Aptos"/>
              </a:rPr>
              <a:t> </a:t>
            </a:r>
            <a:r>
              <a:rPr lang="en-ID" sz="1400" dirty="0" err="1">
                <a:solidFill>
                  <a:srgbClr val="64748B"/>
                </a:solidFill>
                <a:latin typeface="Aptos"/>
              </a:rPr>
              <a:t>dengan</a:t>
            </a:r>
            <a:r>
              <a:rPr lang="en-ID" sz="1400" dirty="0">
                <a:solidFill>
                  <a:srgbClr val="64748B"/>
                </a:solidFill>
                <a:latin typeface="Aptos"/>
              </a:rPr>
              <a:t> </a:t>
            </a:r>
            <a:r>
              <a:rPr lang="en-ID" sz="1400" dirty="0" err="1">
                <a:solidFill>
                  <a:srgbClr val="64748B"/>
                </a:solidFill>
                <a:latin typeface="Aptos"/>
              </a:rPr>
              <a:t>penjualan</a:t>
            </a:r>
            <a:r>
              <a:rPr lang="en-ID" sz="1400" dirty="0">
                <a:solidFill>
                  <a:srgbClr val="64748B"/>
                </a:solidFill>
                <a:latin typeface="Aptos"/>
              </a:rPr>
              <a:t> </a:t>
            </a:r>
            <a:r>
              <a:rPr lang="en-ID" sz="1400" dirty="0" err="1">
                <a:solidFill>
                  <a:srgbClr val="64748B"/>
                </a:solidFill>
                <a:latin typeface="Aptos"/>
              </a:rPr>
              <a:t>tertinggi</a:t>
            </a:r>
            <a:r>
              <a:rPr lang="en-ID" sz="1400" dirty="0">
                <a:solidFill>
                  <a:srgbClr val="64748B"/>
                </a:solidFill>
                <a:latin typeface="Aptos"/>
              </a:rPr>
              <a:t>, </a:t>
            </a:r>
            <a:r>
              <a:rPr lang="en-ID" sz="1400" dirty="0" err="1">
                <a:solidFill>
                  <a:srgbClr val="64748B"/>
                </a:solidFill>
                <a:latin typeface="Aptos"/>
              </a:rPr>
              <a:t>menghasilkan</a:t>
            </a:r>
            <a:r>
              <a:rPr lang="en-ID" sz="1400" dirty="0">
                <a:solidFill>
                  <a:srgbClr val="64748B"/>
                </a:solidFill>
                <a:latin typeface="Aptos"/>
              </a:rPr>
              <a:t> </a:t>
            </a:r>
            <a:r>
              <a:rPr lang="en-ID" sz="1400" dirty="0" err="1">
                <a:solidFill>
                  <a:srgbClr val="64748B"/>
                </a:solidFill>
                <a:latin typeface="Aptos"/>
              </a:rPr>
              <a:t>pendapatan</a:t>
            </a:r>
            <a:r>
              <a:rPr lang="en-ID" sz="1400" dirty="0">
                <a:solidFill>
                  <a:srgbClr val="64748B"/>
                </a:solidFill>
                <a:latin typeface="Aptos"/>
              </a:rPr>
              <a:t> </a:t>
            </a:r>
            <a:r>
              <a:rPr lang="en-ID" sz="1400" dirty="0" err="1">
                <a:solidFill>
                  <a:srgbClr val="64748B"/>
                </a:solidFill>
                <a:latin typeface="Aptos"/>
              </a:rPr>
              <a:t>sekitar</a:t>
            </a:r>
            <a:r>
              <a:rPr lang="en-ID" sz="1400" dirty="0">
                <a:solidFill>
                  <a:srgbClr val="64748B"/>
                </a:solidFill>
                <a:latin typeface="Aptos"/>
              </a:rPr>
              <a:t> $544,3 </a:t>
            </a:r>
            <a:r>
              <a:rPr lang="en-ID" sz="1400" dirty="0" err="1">
                <a:solidFill>
                  <a:srgbClr val="64748B"/>
                </a:solidFill>
                <a:latin typeface="Aptos"/>
              </a:rPr>
              <a:t>ribu</a:t>
            </a:r>
            <a:r>
              <a:rPr lang="en-ID" sz="1400" dirty="0">
                <a:solidFill>
                  <a:srgbClr val="64748B"/>
                </a:solidFill>
                <a:latin typeface="Aptos"/>
              </a:rPr>
              <a:t>. Hal </a:t>
            </a:r>
            <a:r>
              <a:rPr lang="en-ID" sz="1400" dirty="0" err="1">
                <a:solidFill>
                  <a:srgbClr val="64748B"/>
                </a:solidFill>
                <a:latin typeface="Aptos"/>
              </a:rPr>
              <a:t>ini</a:t>
            </a:r>
            <a:r>
              <a:rPr lang="en-ID" sz="1400" dirty="0">
                <a:solidFill>
                  <a:srgbClr val="64748B"/>
                </a:solidFill>
                <a:latin typeface="Aptos"/>
              </a:rPr>
              <a:t> </a:t>
            </a:r>
            <a:r>
              <a:rPr lang="en-ID" sz="1400" dirty="0" err="1">
                <a:solidFill>
                  <a:srgbClr val="64748B"/>
                </a:solidFill>
                <a:latin typeface="Aptos"/>
              </a:rPr>
              <a:t>menunjukkan</a:t>
            </a:r>
            <a:r>
              <a:rPr lang="en-ID" sz="1400" dirty="0">
                <a:solidFill>
                  <a:srgbClr val="64748B"/>
                </a:solidFill>
                <a:latin typeface="Aptos"/>
              </a:rPr>
              <a:t> </a:t>
            </a:r>
            <a:r>
              <a:rPr lang="en-ID" sz="1400" dirty="0" err="1">
                <a:solidFill>
                  <a:srgbClr val="64748B"/>
                </a:solidFill>
                <a:latin typeface="Aptos"/>
              </a:rPr>
              <a:t>bahwa</a:t>
            </a:r>
            <a:r>
              <a:rPr lang="en-ID" sz="1400" dirty="0">
                <a:solidFill>
                  <a:srgbClr val="64748B"/>
                </a:solidFill>
                <a:latin typeface="Aptos"/>
              </a:rPr>
              <a:t> Mountain Bikes </a:t>
            </a:r>
            <a:r>
              <a:rPr lang="en-ID" sz="1400" dirty="0" err="1">
                <a:solidFill>
                  <a:srgbClr val="64748B"/>
                </a:solidFill>
                <a:latin typeface="Aptos"/>
              </a:rPr>
              <a:t>menjadi</a:t>
            </a:r>
            <a:r>
              <a:rPr lang="en-ID" sz="1400" dirty="0">
                <a:solidFill>
                  <a:srgbClr val="64748B"/>
                </a:solidFill>
                <a:latin typeface="Aptos"/>
              </a:rPr>
              <a:t> salah </a:t>
            </a:r>
            <a:r>
              <a:rPr lang="en-ID" sz="1400" dirty="0" err="1">
                <a:solidFill>
                  <a:srgbClr val="64748B"/>
                </a:solidFill>
                <a:latin typeface="Aptos"/>
              </a:rPr>
              <a:t>satu</a:t>
            </a:r>
            <a:r>
              <a:rPr lang="en-ID" sz="1400" dirty="0">
                <a:solidFill>
                  <a:srgbClr val="64748B"/>
                </a:solidFill>
                <a:latin typeface="Aptos"/>
              </a:rPr>
              <a:t> </a:t>
            </a:r>
            <a:r>
              <a:rPr lang="en-ID" sz="1400" dirty="0" err="1">
                <a:solidFill>
                  <a:srgbClr val="64748B"/>
                </a:solidFill>
                <a:latin typeface="Aptos"/>
              </a:rPr>
              <a:t>kategori</a:t>
            </a:r>
            <a:r>
              <a:rPr lang="en-ID" sz="1400" dirty="0">
                <a:solidFill>
                  <a:srgbClr val="64748B"/>
                </a:solidFill>
                <a:latin typeface="Aptos"/>
              </a:rPr>
              <a:t> </a:t>
            </a:r>
            <a:r>
              <a:rPr lang="en-ID" sz="1400" dirty="0" err="1">
                <a:solidFill>
                  <a:srgbClr val="64748B"/>
                </a:solidFill>
                <a:latin typeface="Aptos"/>
              </a:rPr>
              <a:t>utama</a:t>
            </a:r>
            <a:r>
              <a:rPr lang="en-ID" sz="1400" dirty="0">
                <a:solidFill>
                  <a:srgbClr val="64748B"/>
                </a:solidFill>
                <a:latin typeface="Aptos"/>
              </a:rPr>
              <a:t> yang </a:t>
            </a:r>
            <a:r>
              <a:rPr lang="en-ID" sz="1400" dirty="0" err="1">
                <a:solidFill>
                  <a:srgbClr val="64748B"/>
                </a:solidFill>
                <a:latin typeface="Aptos"/>
              </a:rPr>
              <a:t>mendorong</a:t>
            </a:r>
            <a:r>
              <a:rPr lang="en-ID" sz="1400" dirty="0">
                <a:solidFill>
                  <a:srgbClr val="64748B"/>
                </a:solidFill>
                <a:latin typeface="Aptos"/>
              </a:rPr>
              <a:t> </a:t>
            </a:r>
            <a:r>
              <a:rPr lang="en-ID" sz="1400" dirty="0" err="1">
                <a:solidFill>
                  <a:srgbClr val="64748B"/>
                </a:solidFill>
                <a:latin typeface="Aptos"/>
              </a:rPr>
              <a:t>pendapatan</a:t>
            </a:r>
            <a:r>
              <a:rPr lang="en-ID" sz="1400" dirty="0">
                <a:solidFill>
                  <a:srgbClr val="64748B"/>
                </a:solidFill>
                <a:latin typeface="Aptos"/>
              </a:rPr>
              <a:t> Bike Store.</a:t>
            </a:r>
          </a:p>
        </p:txBody>
      </p:sp>
      <p:sp>
        <p:nvSpPr>
          <p:cNvPr id="13" name="Rounded Rectangle 12"/>
          <p:cNvSpPr/>
          <p:nvPr/>
        </p:nvSpPr>
        <p:spPr>
          <a:xfrm>
            <a:off x="502920" y="6281928"/>
            <a:ext cx="8138160" cy="1773936"/>
          </a:xfrm>
          <a:prstGeom prst="roundRect">
            <a:avLst/>
          </a:prstGeom>
          <a:solidFill>
            <a:srgbClr val="FFFFFF"/>
          </a:solidFill>
          <a:ln>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6446520"/>
            <a:ext cx="7680960" cy="365760"/>
          </a:xfrm>
          <a:prstGeom prst="rect">
            <a:avLst/>
          </a:prstGeom>
          <a:noFill/>
        </p:spPr>
        <p:txBody>
          <a:bodyPr wrap="square">
            <a:spAutoFit/>
          </a:bodyPr>
          <a:lstStyle/>
          <a:p>
            <a:pPr>
              <a:spcAft>
                <a:spcPts val="700"/>
              </a:spcAft>
              <a:defRPr sz="1700" b="1">
                <a:solidFill>
                  <a:srgbClr val="102C50"/>
                </a:solidFill>
                <a:latin typeface="Aptos"/>
              </a:defRPr>
            </a:pPr>
            <a:r>
              <a:t>03  STORE COMPARISON</a:t>
            </a:r>
          </a:p>
        </p:txBody>
      </p:sp>
      <p:sp>
        <p:nvSpPr>
          <p:cNvPr id="15" name="TextBox 14"/>
          <p:cNvSpPr txBox="1"/>
          <p:nvPr/>
        </p:nvSpPr>
        <p:spPr>
          <a:xfrm>
            <a:off x="731520" y="6822647"/>
            <a:ext cx="7680960" cy="738664"/>
          </a:xfrm>
          <a:prstGeom prst="rect">
            <a:avLst/>
          </a:prstGeom>
          <a:noFill/>
        </p:spPr>
        <p:txBody>
          <a:bodyPr wrap="square">
            <a:spAutoFit/>
          </a:bodyPr>
          <a:lstStyle/>
          <a:p>
            <a:pPr algn="just">
              <a:spcAft>
                <a:spcPts val="700"/>
              </a:spcAft>
              <a:defRPr sz="1400" b="0">
                <a:solidFill>
                  <a:srgbClr val="64748B"/>
                </a:solidFill>
                <a:latin typeface="Aptos"/>
              </a:defRPr>
            </a:pPr>
            <a:r>
              <a:rPr lang="en-ID" sz="1400" dirty="0">
                <a:solidFill>
                  <a:srgbClr val="64748B"/>
                </a:solidFill>
                <a:latin typeface="Aptos"/>
              </a:rPr>
              <a:t>Baldwin Bikes </a:t>
            </a:r>
            <a:r>
              <a:rPr lang="en-ID" sz="1400" dirty="0" err="1">
                <a:solidFill>
                  <a:srgbClr val="64748B"/>
                </a:solidFill>
                <a:latin typeface="Aptos"/>
              </a:rPr>
              <a:t>menjadi</a:t>
            </a:r>
            <a:r>
              <a:rPr lang="en-ID" sz="1400" dirty="0">
                <a:solidFill>
                  <a:srgbClr val="64748B"/>
                </a:solidFill>
                <a:latin typeface="Aptos"/>
              </a:rPr>
              <a:t> toko </a:t>
            </a:r>
            <a:r>
              <a:rPr lang="en-ID" sz="1400" dirty="0" err="1">
                <a:solidFill>
                  <a:srgbClr val="64748B"/>
                </a:solidFill>
                <a:latin typeface="Aptos"/>
              </a:rPr>
              <a:t>dengan</a:t>
            </a:r>
            <a:r>
              <a:rPr lang="en-ID" sz="1400" dirty="0">
                <a:solidFill>
                  <a:srgbClr val="64748B"/>
                </a:solidFill>
                <a:latin typeface="Aptos"/>
              </a:rPr>
              <a:t> </a:t>
            </a:r>
            <a:r>
              <a:rPr lang="en-ID" sz="1400" dirty="0" err="1">
                <a:solidFill>
                  <a:srgbClr val="64748B"/>
                </a:solidFill>
                <a:latin typeface="Aptos"/>
              </a:rPr>
              <a:t>penjualan</a:t>
            </a:r>
            <a:r>
              <a:rPr lang="en-ID" sz="1400" dirty="0">
                <a:solidFill>
                  <a:srgbClr val="64748B"/>
                </a:solidFill>
                <a:latin typeface="Aptos"/>
              </a:rPr>
              <a:t> </a:t>
            </a:r>
            <a:r>
              <a:rPr lang="en-ID" sz="1400" dirty="0" err="1">
                <a:solidFill>
                  <a:srgbClr val="64748B"/>
                </a:solidFill>
                <a:latin typeface="Aptos"/>
              </a:rPr>
              <a:t>tertinggi</a:t>
            </a:r>
            <a:r>
              <a:rPr lang="en-ID" sz="1400" dirty="0">
                <a:solidFill>
                  <a:srgbClr val="64748B"/>
                </a:solidFill>
                <a:latin typeface="Aptos"/>
              </a:rPr>
              <a:t> dan </a:t>
            </a:r>
            <a:r>
              <a:rPr lang="en-ID" sz="1400" dirty="0" err="1">
                <a:solidFill>
                  <a:srgbClr val="64748B"/>
                </a:solidFill>
                <a:latin typeface="Aptos"/>
              </a:rPr>
              <a:t>memberikan</a:t>
            </a:r>
            <a:r>
              <a:rPr lang="en-ID" sz="1400" dirty="0">
                <a:solidFill>
                  <a:srgbClr val="64748B"/>
                </a:solidFill>
                <a:latin typeface="Aptos"/>
              </a:rPr>
              <a:t> </a:t>
            </a:r>
            <a:r>
              <a:rPr lang="en-ID" sz="1400" dirty="0" err="1">
                <a:solidFill>
                  <a:srgbClr val="64748B"/>
                </a:solidFill>
                <a:latin typeface="Aptos"/>
              </a:rPr>
              <a:t>kontribusi</a:t>
            </a:r>
            <a:r>
              <a:rPr lang="en-ID" sz="1400" dirty="0">
                <a:solidFill>
                  <a:srgbClr val="64748B"/>
                </a:solidFill>
                <a:latin typeface="Aptos"/>
              </a:rPr>
              <a:t> </a:t>
            </a:r>
            <a:r>
              <a:rPr lang="en-ID" sz="1400" dirty="0" err="1">
                <a:solidFill>
                  <a:srgbClr val="64748B"/>
                </a:solidFill>
                <a:latin typeface="Aptos"/>
              </a:rPr>
              <a:t>pendapatan</a:t>
            </a:r>
            <a:r>
              <a:rPr lang="en-ID" sz="1400" dirty="0">
                <a:solidFill>
                  <a:srgbClr val="64748B"/>
                </a:solidFill>
                <a:latin typeface="Aptos"/>
              </a:rPr>
              <a:t> </a:t>
            </a:r>
            <a:r>
              <a:rPr lang="en-ID" sz="1400" dirty="0" err="1">
                <a:solidFill>
                  <a:srgbClr val="64748B"/>
                </a:solidFill>
                <a:latin typeface="Aptos"/>
              </a:rPr>
              <a:t>terbesar</a:t>
            </a:r>
            <a:r>
              <a:rPr lang="en-ID" sz="1400" dirty="0">
                <a:solidFill>
                  <a:srgbClr val="64748B"/>
                </a:solidFill>
                <a:latin typeface="Aptos"/>
              </a:rPr>
              <a:t>. </a:t>
            </a:r>
            <a:r>
              <a:rPr lang="en-ID" sz="1400" dirty="0" err="1">
                <a:solidFill>
                  <a:srgbClr val="64748B"/>
                </a:solidFill>
                <a:latin typeface="Aptos"/>
              </a:rPr>
              <a:t>Sementara</a:t>
            </a:r>
            <a:r>
              <a:rPr lang="en-ID" sz="1400" dirty="0">
                <a:solidFill>
                  <a:srgbClr val="64748B"/>
                </a:solidFill>
                <a:latin typeface="Aptos"/>
              </a:rPr>
              <a:t> </a:t>
            </a:r>
            <a:r>
              <a:rPr lang="en-ID" sz="1400" dirty="0" err="1">
                <a:solidFill>
                  <a:srgbClr val="64748B"/>
                </a:solidFill>
                <a:latin typeface="Aptos"/>
              </a:rPr>
              <a:t>itu</a:t>
            </a:r>
            <a:r>
              <a:rPr lang="en-ID" sz="1400" dirty="0">
                <a:solidFill>
                  <a:srgbClr val="64748B"/>
                </a:solidFill>
                <a:latin typeface="Aptos"/>
              </a:rPr>
              <a:t>, Rowlett Bikes </a:t>
            </a:r>
            <a:r>
              <a:rPr lang="en-ID" sz="1400" dirty="0" err="1">
                <a:solidFill>
                  <a:srgbClr val="64748B"/>
                </a:solidFill>
                <a:latin typeface="Aptos"/>
              </a:rPr>
              <a:t>mencatat</a:t>
            </a:r>
            <a:r>
              <a:rPr lang="en-ID" sz="1400" dirty="0">
                <a:solidFill>
                  <a:srgbClr val="64748B"/>
                </a:solidFill>
                <a:latin typeface="Aptos"/>
              </a:rPr>
              <a:t> </a:t>
            </a:r>
            <a:r>
              <a:rPr lang="en-ID" sz="1400" dirty="0" err="1">
                <a:solidFill>
                  <a:srgbClr val="64748B"/>
                </a:solidFill>
                <a:latin typeface="Aptos"/>
              </a:rPr>
              <a:t>penjualan</a:t>
            </a:r>
            <a:r>
              <a:rPr lang="en-ID" sz="1400" dirty="0">
                <a:solidFill>
                  <a:srgbClr val="64748B"/>
                </a:solidFill>
                <a:latin typeface="Aptos"/>
              </a:rPr>
              <a:t> </a:t>
            </a:r>
            <a:r>
              <a:rPr lang="en-ID" sz="1400" dirty="0" err="1">
                <a:solidFill>
                  <a:srgbClr val="64748B"/>
                </a:solidFill>
                <a:latin typeface="Aptos"/>
              </a:rPr>
              <a:t>terendah</a:t>
            </a:r>
            <a:r>
              <a:rPr lang="en-ID" sz="1400" dirty="0">
                <a:solidFill>
                  <a:srgbClr val="64748B"/>
                </a:solidFill>
                <a:latin typeface="Aptos"/>
              </a:rPr>
              <a:t> </a:t>
            </a:r>
            <a:r>
              <a:rPr lang="en-ID" sz="1400" dirty="0" err="1">
                <a:solidFill>
                  <a:srgbClr val="64748B"/>
                </a:solidFill>
                <a:latin typeface="Aptos"/>
              </a:rPr>
              <a:t>sehingga</a:t>
            </a:r>
            <a:r>
              <a:rPr lang="en-ID" sz="1400" dirty="0">
                <a:solidFill>
                  <a:srgbClr val="64748B"/>
                </a:solidFill>
                <a:latin typeface="Aptos"/>
              </a:rPr>
              <a:t> </a:t>
            </a:r>
            <a:r>
              <a:rPr lang="en-ID" sz="1400" dirty="0" err="1">
                <a:solidFill>
                  <a:srgbClr val="64748B"/>
                </a:solidFill>
                <a:latin typeface="Aptos"/>
              </a:rPr>
              <a:t>perlu</a:t>
            </a:r>
            <a:r>
              <a:rPr lang="en-ID" sz="1400" dirty="0">
                <a:solidFill>
                  <a:srgbClr val="64748B"/>
                </a:solidFill>
                <a:latin typeface="Aptos"/>
              </a:rPr>
              <a:t> </a:t>
            </a:r>
            <a:r>
              <a:rPr lang="en-ID" sz="1400" dirty="0" err="1">
                <a:solidFill>
                  <a:srgbClr val="64748B"/>
                </a:solidFill>
                <a:latin typeface="Aptos"/>
              </a:rPr>
              <a:t>mendapat</a:t>
            </a:r>
            <a:r>
              <a:rPr lang="en-ID" sz="1400" dirty="0">
                <a:solidFill>
                  <a:srgbClr val="64748B"/>
                </a:solidFill>
                <a:latin typeface="Aptos"/>
              </a:rPr>
              <a:t> </a:t>
            </a:r>
            <a:r>
              <a:rPr lang="en-ID" sz="1400" dirty="0" err="1">
                <a:solidFill>
                  <a:srgbClr val="64748B"/>
                </a:solidFill>
                <a:latin typeface="Aptos"/>
              </a:rPr>
              <a:t>perhatian</a:t>
            </a:r>
            <a:r>
              <a:rPr lang="en-ID" sz="1400" dirty="0">
                <a:solidFill>
                  <a:srgbClr val="64748B"/>
                </a:solidFill>
                <a:latin typeface="Aptos"/>
              </a:rPr>
              <a:t> </a:t>
            </a:r>
            <a:r>
              <a:rPr lang="en-ID" sz="1400" dirty="0" err="1">
                <a:solidFill>
                  <a:srgbClr val="64748B"/>
                </a:solidFill>
                <a:latin typeface="Aptos"/>
              </a:rPr>
              <a:t>lebih</a:t>
            </a:r>
            <a:r>
              <a:rPr lang="en-ID" sz="1400" dirty="0">
                <a:solidFill>
                  <a:srgbClr val="64748B"/>
                </a:solidFill>
                <a:latin typeface="Aptos"/>
              </a:rPr>
              <a:t> </a:t>
            </a:r>
            <a:r>
              <a:rPr lang="en-ID" sz="1400" dirty="0" err="1">
                <a:solidFill>
                  <a:srgbClr val="64748B"/>
                </a:solidFill>
                <a:latin typeface="Aptos"/>
              </a:rPr>
              <a:t>untuk</a:t>
            </a:r>
            <a:r>
              <a:rPr lang="en-ID" sz="1400" dirty="0">
                <a:solidFill>
                  <a:srgbClr val="64748B"/>
                </a:solidFill>
                <a:latin typeface="Aptos"/>
              </a:rPr>
              <a:t> </a:t>
            </a:r>
            <a:r>
              <a:rPr lang="en-ID" sz="1400" dirty="0" err="1">
                <a:solidFill>
                  <a:srgbClr val="64748B"/>
                </a:solidFill>
                <a:latin typeface="Aptos"/>
              </a:rPr>
              <a:t>meningkatkan</a:t>
            </a:r>
            <a:r>
              <a:rPr lang="en-ID" sz="1400" dirty="0">
                <a:solidFill>
                  <a:srgbClr val="64748B"/>
                </a:solidFill>
                <a:latin typeface="Aptos"/>
              </a:rPr>
              <a:t> </a:t>
            </a:r>
            <a:r>
              <a:rPr lang="en-ID" sz="1400" dirty="0" err="1">
                <a:solidFill>
                  <a:srgbClr val="64748B"/>
                </a:solidFill>
                <a:latin typeface="Aptos"/>
              </a:rPr>
              <a:t>performa</a:t>
            </a:r>
            <a:r>
              <a:rPr lang="en-ID" sz="1400" dirty="0">
                <a:solidFill>
                  <a:srgbClr val="64748B"/>
                </a:solidFill>
                <a:latin typeface="Aptos"/>
              </a:rPr>
              <a:t> </a:t>
            </a:r>
            <a:r>
              <a:rPr lang="en-ID" sz="1400" dirty="0" err="1">
                <a:solidFill>
                  <a:srgbClr val="64748B"/>
                </a:solidFill>
                <a:latin typeface="Aptos"/>
              </a:rPr>
              <a:t>penjualannya</a:t>
            </a:r>
            <a:r>
              <a:rPr lang="en-ID" sz="1400" dirty="0">
                <a:solidFill>
                  <a:srgbClr val="64748B"/>
                </a:solidFill>
                <a:latin typeface="Aptos"/>
              </a:rPr>
              <a:t>.</a:t>
            </a:r>
            <a:endParaRPr sz="1400" dirty="0"/>
          </a:p>
        </p:txBody>
      </p:sp>
      <p:sp>
        <p:nvSpPr>
          <p:cNvPr id="16" name="Rounded Rectangle 15"/>
          <p:cNvSpPr/>
          <p:nvPr/>
        </p:nvSpPr>
        <p:spPr>
          <a:xfrm>
            <a:off x="502920" y="8257032"/>
            <a:ext cx="8138160" cy="1773936"/>
          </a:xfrm>
          <a:prstGeom prst="roundRect">
            <a:avLst/>
          </a:prstGeom>
          <a:solidFill>
            <a:srgbClr val="FFFFFF"/>
          </a:solidFill>
          <a:ln>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8421624"/>
            <a:ext cx="7680960" cy="365760"/>
          </a:xfrm>
          <a:prstGeom prst="rect">
            <a:avLst/>
          </a:prstGeom>
          <a:noFill/>
        </p:spPr>
        <p:txBody>
          <a:bodyPr wrap="square">
            <a:spAutoFit/>
          </a:bodyPr>
          <a:lstStyle/>
          <a:p>
            <a:pPr>
              <a:spcAft>
                <a:spcPts val="700"/>
              </a:spcAft>
              <a:defRPr sz="1700" b="1">
                <a:solidFill>
                  <a:srgbClr val="102C50"/>
                </a:solidFill>
                <a:latin typeface="Aptos"/>
              </a:defRPr>
            </a:pPr>
            <a:r>
              <a:t>04  BUSINESS OPPORTUNITY</a:t>
            </a:r>
          </a:p>
        </p:txBody>
      </p:sp>
      <p:sp>
        <p:nvSpPr>
          <p:cNvPr id="18" name="TextBox 17"/>
          <p:cNvSpPr txBox="1"/>
          <p:nvPr/>
        </p:nvSpPr>
        <p:spPr>
          <a:xfrm>
            <a:off x="731520" y="8802541"/>
            <a:ext cx="7680960" cy="954107"/>
          </a:xfrm>
          <a:prstGeom prst="rect">
            <a:avLst/>
          </a:prstGeom>
          <a:noFill/>
        </p:spPr>
        <p:txBody>
          <a:bodyPr wrap="square">
            <a:spAutoFit/>
          </a:bodyPr>
          <a:lstStyle/>
          <a:p>
            <a:pPr algn="just">
              <a:spcAft>
                <a:spcPts val="700"/>
              </a:spcAft>
              <a:defRPr sz="1400" b="0">
                <a:solidFill>
                  <a:srgbClr val="64748B"/>
                </a:solidFill>
                <a:latin typeface="Aptos"/>
              </a:defRPr>
            </a:pPr>
            <a:r>
              <a:rPr lang="en-ID" sz="1400" dirty="0" err="1">
                <a:solidFill>
                  <a:srgbClr val="64748B"/>
                </a:solidFill>
                <a:latin typeface="Aptos"/>
              </a:rPr>
              <a:t>Analisis</a:t>
            </a:r>
            <a:r>
              <a:rPr lang="en-ID" sz="1400" dirty="0">
                <a:solidFill>
                  <a:srgbClr val="64748B"/>
                </a:solidFill>
                <a:latin typeface="Aptos"/>
              </a:rPr>
              <a:t> </a:t>
            </a:r>
            <a:r>
              <a:rPr lang="en-ID" sz="1400" dirty="0" err="1">
                <a:solidFill>
                  <a:srgbClr val="64748B"/>
                </a:solidFill>
                <a:latin typeface="Aptos"/>
              </a:rPr>
              <a:t>stok</a:t>
            </a:r>
            <a:r>
              <a:rPr lang="en-ID" sz="1400" dirty="0">
                <a:solidFill>
                  <a:srgbClr val="64748B"/>
                </a:solidFill>
                <a:latin typeface="Aptos"/>
              </a:rPr>
              <a:t>, </a:t>
            </a:r>
            <a:r>
              <a:rPr lang="en-ID" sz="1400" dirty="0" err="1">
                <a:solidFill>
                  <a:srgbClr val="64748B"/>
                </a:solidFill>
                <a:latin typeface="Aptos"/>
              </a:rPr>
              <a:t>diskon</a:t>
            </a:r>
            <a:r>
              <a:rPr lang="en-ID" sz="1400" dirty="0">
                <a:solidFill>
                  <a:srgbClr val="64748B"/>
                </a:solidFill>
                <a:latin typeface="Aptos"/>
              </a:rPr>
              <a:t>, dan </a:t>
            </a:r>
            <a:r>
              <a:rPr lang="en-ID" sz="1400" dirty="0" err="1">
                <a:solidFill>
                  <a:srgbClr val="64748B"/>
                </a:solidFill>
                <a:latin typeface="Aptos"/>
              </a:rPr>
              <a:t>pelanggan</a:t>
            </a:r>
            <a:r>
              <a:rPr lang="en-ID" sz="1400" dirty="0">
                <a:solidFill>
                  <a:srgbClr val="64748B"/>
                </a:solidFill>
                <a:latin typeface="Aptos"/>
              </a:rPr>
              <a:t> </a:t>
            </a:r>
            <a:r>
              <a:rPr lang="en-ID" sz="1400" dirty="0" err="1">
                <a:solidFill>
                  <a:srgbClr val="64748B"/>
                </a:solidFill>
                <a:latin typeface="Aptos"/>
              </a:rPr>
              <a:t>belum</a:t>
            </a:r>
            <a:r>
              <a:rPr lang="en-ID" sz="1400" dirty="0">
                <a:solidFill>
                  <a:srgbClr val="64748B"/>
                </a:solidFill>
                <a:latin typeface="Aptos"/>
              </a:rPr>
              <a:t> </a:t>
            </a:r>
            <a:r>
              <a:rPr lang="en-ID" sz="1400" dirty="0" err="1">
                <a:solidFill>
                  <a:srgbClr val="64748B"/>
                </a:solidFill>
                <a:latin typeface="Aptos"/>
              </a:rPr>
              <a:t>dilakukan</a:t>
            </a:r>
            <a:r>
              <a:rPr lang="en-ID" sz="1400" dirty="0">
                <a:solidFill>
                  <a:srgbClr val="64748B"/>
                </a:solidFill>
                <a:latin typeface="Aptos"/>
              </a:rPr>
              <a:t> </a:t>
            </a:r>
            <a:r>
              <a:rPr lang="en-ID" sz="1400" dirty="0" err="1">
                <a:solidFill>
                  <a:srgbClr val="64748B"/>
                </a:solidFill>
                <a:latin typeface="Aptos"/>
              </a:rPr>
              <a:t>secara</a:t>
            </a:r>
            <a:r>
              <a:rPr lang="en-ID" sz="1400" dirty="0">
                <a:solidFill>
                  <a:srgbClr val="64748B"/>
                </a:solidFill>
                <a:latin typeface="Aptos"/>
              </a:rPr>
              <a:t> </a:t>
            </a:r>
            <a:r>
              <a:rPr lang="en-ID" sz="1400" dirty="0" err="1">
                <a:solidFill>
                  <a:srgbClr val="64748B"/>
                </a:solidFill>
                <a:latin typeface="Aptos"/>
              </a:rPr>
              <a:t>mendalam</a:t>
            </a:r>
            <a:r>
              <a:rPr lang="en-ID" sz="1400" dirty="0">
                <a:solidFill>
                  <a:srgbClr val="64748B"/>
                </a:solidFill>
                <a:latin typeface="Aptos"/>
              </a:rPr>
              <a:t> </a:t>
            </a:r>
            <a:r>
              <a:rPr lang="en-ID" sz="1400" dirty="0" err="1">
                <a:solidFill>
                  <a:srgbClr val="64748B"/>
                </a:solidFill>
                <a:latin typeface="Aptos"/>
              </a:rPr>
              <a:t>dalam</a:t>
            </a:r>
            <a:r>
              <a:rPr lang="en-ID" sz="1400" dirty="0">
                <a:solidFill>
                  <a:srgbClr val="64748B"/>
                </a:solidFill>
                <a:latin typeface="Aptos"/>
              </a:rPr>
              <a:t> project </a:t>
            </a:r>
            <a:r>
              <a:rPr lang="en-ID" sz="1400" dirty="0" err="1">
                <a:solidFill>
                  <a:srgbClr val="64748B"/>
                </a:solidFill>
                <a:latin typeface="Aptos"/>
              </a:rPr>
              <a:t>ini</a:t>
            </a:r>
            <a:r>
              <a:rPr lang="en-ID" sz="1400" dirty="0">
                <a:solidFill>
                  <a:srgbClr val="64748B"/>
                </a:solidFill>
                <a:latin typeface="Aptos"/>
              </a:rPr>
              <a:t>. </a:t>
            </a:r>
            <a:r>
              <a:rPr lang="en-ID" sz="1400" dirty="0" err="1">
                <a:solidFill>
                  <a:srgbClr val="64748B"/>
                </a:solidFill>
                <a:latin typeface="Aptos"/>
              </a:rPr>
              <a:t>Fokus</a:t>
            </a:r>
            <a:r>
              <a:rPr lang="en-ID" sz="1400" dirty="0">
                <a:solidFill>
                  <a:srgbClr val="64748B"/>
                </a:solidFill>
                <a:latin typeface="Aptos"/>
              </a:rPr>
              <a:t> </a:t>
            </a:r>
            <a:r>
              <a:rPr lang="en-ID" sz="1400" dirty="0" err="1">
                <a:solidFill>
                  <a:srgbClr val="64748B"/>
                </a:solidFill>
                <a:latin typeface="Aptos"/>
              </a:rPr>
              <a:t>analisis</a:t>
            </a:r>
            <a:r>
              <a:rPr lang="en-ID" sz="1400" dirty="0">
                <a:solidFill>
                  <a:srgbClr val="64748B"/>
                </a:solidFill>
                <a:latin typeface="Aptos"/>
              </a:rPr>
              <a:t> </a:t>
            </a:r>
            <a:r>
              <a:rPr lang="en-ID" sz="1400" dirty="0" err="1">
                <a:solidFill>
                  <a:srgbClr val="64748B"/>
                </a:solidFill>
                <a:latin typeface="Aptos"/>
              </a:rPr>
              <a:t>masih</a:t>
            </a:r>
            <a:r>
              <a:rPr lang="en-ID" sz="1400" dirty="0">
                <a:solidFill>
                  <a:srgbClr val="64748B"/>
                </a:solidFill>
                <a:latin typeface="Aptos"/>
              </a:rPr>
              <a:t> pada </a:t>
            </a:r>
            <a:r>
              <a:rPr lang="en-ID" sz="1400" dirty="0" err="1">
                <a:solidFill>
                  <a:srgbClr val="64748B"/>
                </a:solidFill>
                <a:latin typeface="Aptos"/>
              </a:rPr>
              <a:t>performa</a:t>
            </a:r>
            <a:r>
              <a:rPr lang="en-ID" sz="1400" dirty="0">
                <a:solidFill>
                  <a:srgbClr val="64748B"/>
                </a:solidFill>
                <a:latin typeface="Aptos"/>
              </a:rPr>
              <a:t> </a:t>
            </a:r>
            <a:r>
              <a:rPr lang="en-ID" sz="1400" dirty="0" err="1">
                <a:solidFill>
                  <a:srgbClr val="64748B"/>
                </a:solidFill>
                <a:latin typeface="Aptos"/>
              </a:rPr>
              <a:t>penjualan</a:t>
            </a:r>
            <a:r>
              <a:rPr lang="en-ID" sz="1400" dirty="0">
                <a:solidFill>
                  <a:srgbClr val="64748B"/>
                </a:solidFill>
                <a:latin typeface="Aptos"/>
              </a:rPr>
              <a:t>, </a:t>
            </a:r>
            <a:r>
              <a:rPr lang="en-ID" sz="1400" dirty="0" err="1">
                <a:solidFill>
                  <a:srgbClr val="64748B"/>
                </a:solidFill>
                <a:latin typeface="Aptos"/>
              </a:rPr>
              <a:t>produk</a:t>
            </a:r>
            <a:r>
              <a:rPr lang="en-ID" sz="1400" dirty="0">
                <a:solidFill>
                  <a:srgbClr val="64748B"/>
                </a:solidFill>
                <a:latin typeface="Aptos"/>
              </a:rPr>
              <a:t> </a:t>
            </a:r>
            <a:r>
              <a:rPr lang="en-ID" sz="1400" dirty="0" err="1">
                <a:solidFill>
                  <a:srgbClr val="64748B"/>
                </a:solidFill>
                <a:latin typeface="Aptos"/>
              </a:rPr>
              <a:t>terlaris</a:t>
            </a:r>
            <a:r>
              <a:rPr lang="en-ID" sz="1400" dirty="0">
                <a:solidFill>
                  <a:srgbClr val="64748B"/>
                </a:solidFill>
                <a:latin typeface="Aptos"/>
              </a:rPr>
              <a:t>, </a:t>
            </a:r>
            <a:r>
              <a:rPr lang="en-ID" sz="1400" dirty="0" err="1">
                <a:solidFill>
                  <a:srgbClr val="64748B"/>
                </a:solidFill>
                <a:latin typeface="Aptos"/>
              </a:rPr>
              <a:t>kategori</a:t>
            </a:r>
            <a:r>
              <a:rPr lang="en-ID" sz="1400" dirty="0">
                <a:solidFill>
                  <a:srgbClr val="64748B"/>
                </a:solidFill>
                <a:latin typeface="Aptos"/>
              </a:rPr>
              <a:t>, dan toko. </a:t>
            </a:r>
            <a:r>
              <a:rPr lang="en-ID" sz="1400" dirty="0" err="1">
                <a:solidFill>
                  <a:srgbClr val="64748B"/>
                </a:solidFill>
                <a:latin typeface="Aptos"/>
              </a:rPr>
              <a:t>Ketiga</a:t>
            </a:r>
            <a:r>
              <a:rPr lang="en-ID" sz="1400" dirty="0">
                <a:solidFill>
                  <a:srgbClr val="64748B"/>
                </a:solidFill>
                <a:latin typeface="Aptos"/>
              </a:rPr>
              <a:t> </a:t>
            </a:r>
            <a:r>
              <a:rPr lang="en-ID" sz="1400" dirty="0" err="1">
                <a:solidFill>
                  <a:srgbClr val="64748B"/>
                </a:solidFill>
                <a:latin typeface="Aptos"/>
              </a:rPr>
              <a:t>aspek</a:t>
            </a:r>
            <a:r>
              <a:rPr lang="en-ID" sz="1400" dirty="0">
                <a:solidFill>
                  <a:srgbClr val="64748B"/>
                </a:solidFill>
                <a:latin typeface="Aptos"/>
              </a:rPr>
              <a:t> </a:t>
            </a:r>
            <a:r>
              <a:rPr lang="en-ID" sz="1400" dirty="0" err="1">
                <a:solidFill>
                  <a:srgbClr val="64748B"/>
                </a:solidFill>
                <a:latin typeface="Aptos"/>
              </a:rPr>
              <a:t>tersebut</a:t>
            </a:r>
            <a:r>
              <a:rPr lang="en-ID" sz="1400" dirty="0">
                <a:solidFill>
                  <a:srgbClr val="64748B"/>
                </a:solidFill>
                <a:latin typeface="Aptos"/>
              </a:rPr>
              <a:t> </a:t>
            </a:r>
            <a:r>
              <a:rPr lang="en-ID" sz="1400" dirty="0" err="1">
                <a:solidFill>
                  <a:srgbClr val="64748B"/>
                </a:solidFill>
                <a:latin typeface="Aptos"/>
              </a:rPr>
              <a:t>dapat</a:t>
            </a:r>
            <a:r>
              <a:rPr lang="en-ID" sz="1400" dirty="0">
                <a:solidFill>
                  <a:srgbClr val="64748B"/>
                </a:solidFill>
                <a:latin typeface="Aptos"/>
              </a:rPr>
              <a:t> </a:t>
            </a:r>
            <a:r>
              <a:rPr lang="en-ID" sz="1400" dirty="0" err="1">
                <a:solidFill>
                  <a:srgbClr val="64748B"/>
                </a:solidFill>
                <a:latin typeface="Aptos"/>
              </a:rPr>
              <a:t>menjadi</a:t>
            </a:r>
            <a:r>
              <a:rPr lang="en-ID" sz="1400" dirty="0">
                <a:solidFill>
                  <a:srgbClr val="64748B"/>
                </a:solidFill>
                <a:latin typeface="Aptos"/>
              </a:rPr>
              <a:t> </a:t>
            </a:r>
            <a:r>
              <a:rPr lang="en-ID" sz="1400" dirty="0" err="1">
                <a:solidFill>
                  <a:srgbClr val="64748B"/>
                </a:solidFill>
                <a:latin typeface="Aptos"/>
              </a:rPr>
              <a:t>pengembangan</a:t>
            </a:r>
            <a:r>
              <a:rPr lang="en-ID" sz="1400" dirty="0">
                <a:solidFill>
                  <a:srgbClr val="64748B"/>
                </a:solidFill>
                <a:latin typeface="Aptos"/>
              </a:rPr>
              <a:t> </a:t>
            </a:r>
            <a:r>
              <a:rPr lang="en-ID" sz="1400" dirty="0" err="1">
                <a:solidFill>
                  <a:srgbClr val="64748B"/>
                </a:solidFill>
                <a:latin typeface="Aptos"/>
              </a:rPr>
              <a:t>analisis</a:t>
            </a:r>
            <a:r>
              <a:rPr lang="en-ID" sz="1400" dirty="0">
                <a:solidFill>
                  <a:srgbClr val="64748B"/>
                </a:solidFill>
                <a:latin typeface="Aptos"/>
              </a:rPr>
              <a:t> </a:t>
            </a:r>
            <a:r>
              <a:rPr lang="en-ID" sz="1400" dirty="0" err="1">
                <a:solidFill>
                  <a:srgbClr val="64748B"/>
                </a:solidFill>
                <a:latin typeface="Aptos"/>
              </a:rPr>
              <a:t>berikutnya</a:t>
            </a:r>
            <a:r>
              <a:rPr lang="en-ID" sz="1400" dirty="0">
                <a:solidFill>
                  <a:srgbClr val="64748B"/>
                </a:solidFill>
                <a:latin typeface="Aptos"/>
              </a:rPr>
              <a:t> </a:t>
            </a:r>
            <a:r>
              <a:rPr lang="en-ID" sz="1400" dirty="0" err="1">
                <a:solidFill>
                  <a:srgbClr val="64748B"/>
                </a:solidFill>
                <a:latin typeface="Aptos"/>
              </a:rPr>
              <a:t>untuk</a:t>
            </a:r>
            <a:r>
              <a:rPr lang="en-ID" sz="1400" dirty="0">
                <a:solidFill>
                  <a:srgbClr val="64748B"/>
                </a:solidFill>
                <a:latin typeface="Aptos"/>
              </a:rPr>
              <a:t> </a:t>
            </a:r>
            <a:r>
              <a:rPr lang="en-ID" sz="1400" dirty="0" err="1">
                <a:solidFill>
                  <a:srgbClr val="64748B"/>
                </a:solidFill>
                <a:latin typeface="Aptos"/>
              </a:rPr>
              <a:t>memahami</a:t>
            </a:r>
            <a:r>
              <a:rPr lang="en-ID" sz="1400" dirty="0">
                <a:solidFill>
                  <a:srgbClr val="64748B"/>
                </a:solidFill>
                <a:latin typeface="Aptos"/>
              </a:rPr>
              <a:t> </a:t>
            </a:r>
            <a:r>
              <a:rPr lang="en-ID" sz="1400" dirty="0" err="1">
                <a:solidFill>
                  <a:srgbClr val="64748B"/>
                </a:solidFill>
                <a:latin typeface="Aptos"/>
              </a:rPr>
              <a:t>pola</a:t>
            </a:r>
            <a:r>
              <a:rPr lang="en-ID" sz="1400" dirty="0">
                <a:solidFill>
                  <a:srgbClr val="64748B"/>
                </a:solidFill>
                <a:latin typeface="Aptos"/>
              </a:rPr>
              <a:t> </a:t>
            </a:r>
            <a:r>
              <a:rPr lang="en-ID" sz="1400" dirty="0" err="1">
                <a:solidFill>
                  <a:srgbClr val="64748B"/>
                </a:solidFill>
                <a:latin typeface="Aptos"/>
              </a:rPr>
              <a:t>pembelian</a:t>
            </a:r>
            <a:r>
              <a:rPr lang="en-ID" sz="1400" dirty="0">
                <a:solidFill>
                  <a:srgbClr val="64748B"/>
                </a:solidFill>
                <a:latin typeface="Aptos"/>
              </a:rPr>
              <a:t> </a:t>
            </a:r>
            <a:r>
              <a:rPr lang="en-ID" sz="1400" dirty="0" err="1">
                <a:solidFill>
                  <a:srgbClr val="64748B"/>
                </a:solidFill>
                <a:latin typeface="Aptos"/>
              </a:rPr>
              <a:t>pelanggan</a:t>
            </a:r>
            <a:r>
              <a:rPr lang="en-ID" sz="1400" dirty="0">
                <a:solidFill>
                  <a:srgbClr val="64748B"/>
                </a:solidFill>
                <a:latin typeface="Aptos"/>
              </a:rPr>
              <a:t>, </a:t>
            </a:r>
            <a:r>
              <a:rPr lang="en-ID" sz="1400" dirty="0" err="1">
                <a:solidFill>
                  <a:srgbClr val="64748B"/>
                </a:solidFill>
                <a:latin typeface="Aptos"/>
              </a:rPr>
              <a:t>efektivitas</a:t>
            </a:r>
            <a:r>
              <a:rPr lang="en-ID" sz="1400" dirty="0">
                <a:solidFill>
                  <a:srgbClr val="64748B"/>
                </a:solidFill>
                <a:latin typeface="Aptos"/>
              </a:rPr>
              <a:t> </a:t>
            </a:r>
            <a:r>
              <a:rPr lang="en-ID" sz="1400" dirty="0" err="1">
                <a:solidFill>
                  <a:srgbClr val="64748B"/>
                </a:solidFill>
                <a:latin typeface="Aptos"/>
              </a:rPr>
              <a:t>diskon</a:t>
            </a:r>
            <a:r>
              <a:rPr lang="en-ID" sz="1400" dirty="0">
                <a:solidFill>
                  <a:srgbClr val="64748B"/>
                </a:solidFill>
                <a:latin typeface="Aptos"/>
              </a:rPr>
              <a:t>, dan </a:t>
            </a:r>
            <a:r>
              <a:rPr lang="en-ID" sz="1400" dirty="0" err="1">
                <a:solidFill>
                  <a:srgbClr val="64748B"/>
                </a:solidFill>
                <a:latin typeface="Aptos"/>
              </a:rPr>
              <a:t>pengelolaan</a:t>
            </a:r>
            <a:r>
              <a:rPr lang="en-ID" sz="1400" dirty="0">
                <a:solidFill>
                  <a:srgbClr val="64748B"/>
                </a:solidFill>
                <a:latin typeface="Aptos"/>
              </a:rPr>
              <a:t> </a:t>
            </a:r>
            <a:r>
              <a:rPr lang="en-ID" sz="1400" dirty="0" err="1">
                <a:solidFill>
                  <a:srgbClr val="64748B"/>
                </a:solidFill>
                <a:latin typeface="Aptos"/>
              </a:rPr>
              <a:t>stok</a:t>
            </a:r>
            <a:r>
              <a:rPr lang="en-ID" sz="1400" dirty="0">
                <a:solidFill>
                  <a:srgbClr val="64748B"/>
                </a:solidFill>
                <a:latin typeface="Aptos"/>
              </a:rPr>
              <a:t>.</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E"/>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46304"/>
          </a:xfrm>
          <a:prstGeom prst="rect">
            <a:avLst/>
          </a:prstGeom>
          <a:solidFill>
            <a:srgbClr val="1675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9184"/>
            <a:ext cx="7315200" cy="274320"/>
          </a:xfrm>
          <a:prstGeom prst="rect">
            <a:avLst/>
          </a:prstGeom>
          <a:noFill/>
        </p:spPr>
        <p:txBody>
          <a:bodyPr wrap="square">
            <a:spAutoFit/>
          </a:bodyPr>
          <a:lstStyle/>
          <a:p>
            <a:pPr>
              <a:spcAft>
                <a:spcPts val="700"/>
              </a:spcAft>
              <a:defRPr sz="1000" b="1">
                <a:solidFill>
                  <a:srgbClr val="1675D1"/>
                </a:solidFill>
                <a:latin typeface="Aptos"/>
              </a:defRPr>
            </a:pPr>
            <a:r>
              <a:t>DATA ANALYTICS PORTFOLIO  /  BIKE STORE</a:t>
            </a:r>
          </a:p>
        </p:txBody>
      </p:sp>
      <p:sp>
        <p:nvSpPr>
          <p:cNvPr id="4" name="TextBox 3"/>
          <p:cNvSpPr txBox="1"/>
          <p:nvPr/>
        </p:nvSpPr>
        <p:spPr>
          <a:xfrm>
            <a:off x="502920" y="859536"/>
            <a:ext cx="8138160" cy="731520"/>
          </a:xfrm>
          <a:prstGeom prst="rect">
            <a:avLst/>
          </a:prstGeom>
          <a:noFill/>
        </p:spPr>
        <p:txBody>
          <a:bodyPr wrap="square">
            <a:spAutoFit/>
          </a:bodyPr>
          <a:lstStyle/>
          <a:p>
            <a:pPr>
              <a:spcAft>
                <a:spcPts val="700"/>
              </a:spcAft>
              <a:defRPr sz="3000" b="1">
                <a:solidFill>
                  <a:srgbClr val="102C50"/>
                </a:solidFill>
                <a:latin typeface="Aptos"/>
              </a:defRPr>
            </a:pPr>
            <a:r>
              <a:t>Recommendations &amp; Next Steps</a:t>
            </a:r>
          </a:p>
        </p:txBody>
      </p:sp>
      <p:sp>
        <p:nvSpPr>
          <p:cNvPr id="5" name="TextBox 4"/>
          <p:cNvSpPr txBox="1"/>
          <p:nvPr/>
        </p:nvSpPr>
        <p:spPr>
          <a:xfrm>
            <a:off x="521207" y="1673352"/>
            <a:ext cx="8138160" cy="640080"/>
          </a:xfrm>
          <a:prstGeom prst="rect">
            <a:avLst/>
          </a:prstGeom>
          <a:noFill/>
        </p:spPr>
        <p:txBody>
          <a:bodyPr wrap="square">
            <a:spAutoFit/>
          </a:bodyPr>
          <a:lstStyle/>
          <a:p>
            <a:pPr>
              <a:spcAft>
                <a:spcPts val="700"/>
              </a:spcAft>
              <a:defRPr sz="1300" b="0">
                <a:solidFill>
                  <a:srgbClr val="64748B"/>
                </a:solidFill>
                <a:latin typeface="Aptos"/>
              </a:defRPr>
            </a:pPr>
            <a:r>
              <a:t>Turn verified analysis findings into practical business actions.</a:t>
            </a:r>
          </a:p>
        </p:txBody>
      </p:sp>
      <p:sp>
        <p:nvSpPr>
          <p:cNvPr id="6" name="TextBox 5"/>
          <p:cNvSpPr txBox="1"/>
          <p:nvPr/>
        </p:nvSpPr>
        <p:spPr>
          <a:xfrm>
            <a:off x="7909560" y="10991088"/>
            <a:ext cx="731520" cy="228600"/>
          </a:xfrm>
          <a:prstGeom prst="rect">
            <a:avLst/>
          </a:prstGeom>
          <a:noFill/>
        </p:spPr>
        <p:txBody>
          <a:bodyPr wrap="square">
            <a:spAutoFit/>
          </a:bodyPr>
          <a:lstStyle/>
          <a:p>
            <a:pPr>
              <a:spcAft>
                <a:spcPts val="700"/>
              </a:spcAft>
              <a:defRPr sz="1000" b="1">
                <a:solidFill>
                  <a:srgbClr val="64748B"/>
                </a:solidFill>
                <a:latin typeface="Aptos"/>
              </a:defRPr>
            </a:pPr>
            <a:r>
              <a:t>08 / 08</a:t>
            </a:r>
          </a:p>
        </p:txBody>
      </p:sp>
      <p:sp>
        <p:nvSpPr>
          <p:cNvPr id="7" name="Rounded Rectangle 6"/>
          <p:cNvSpPr/>
          <p:nvPr/>
        </p:nvSpPr>
        <p:spPr>
          <a:xfrm>
            <a:off x="502920" y="2240280"/>
            <a:ext cx="8138160" cy="1536192"/>
          </a:xfrm>
          <a:prstGeom prst="roundRect">
            <a:avLst/>
          </a:prstGeom>
          <a:solidFill>
            <a:srgbClr val="FFFFFF"/>
          </a:solidFill>
          <a:ln>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404872"/>
            <a:ext cx="7680960" cy="365760"/>
          </a:xfrm>
          <a:prstGeom prst="rect">
            <a:avLst/>
          </a:prstGeom>
          <a:noFill/>
        </p:spPr>
        <p:txBody>
          <a:bodyPr wrap="square">
            <a:spAutoFit/>
          </a:bodyPr>
          <a:lstStyle/>
          <a:p>
            <a:pPr>
              <a:spcAft>
                <a:spcPts val="700"/>
              </a:spcAft>
              <a:defRPr sz="1700" b="1">
                <a:solidFill>
                  <a:srgbClr val="102C50"/>
                </a:solidFill>
                <a:latin typeface="Aptos"/>
              </a:defRPr>
            </a:pPr>
            <a:r>
              <a:t>FOCUS ON STRONG PRODUCTS</a:t>
            </a:r>
          </a:p>
        </p:txBody>
      </p:sp>
      <p:sp>
        <p:nvSpPr>
          <p:cNvPr id="9" name="TextBox 8"/>
          <p:cNvSpPr txBox="1"/>
          <p:nvPr/>
        </p:nvSpPr>
        <p:spPr>
          <a:xfrm>
            <a:off x="731520" y="2770632"/>
            <a:ext cx="7680960" cy="523220"/>
          </a:xfrm>
          <a:prstGeom prst="rect">
            <a:avLst/>
          </a:prstGeom>
          <a:noFill/>
        </p:spPr>
        <p:txBody>
          <a:bodyPr wrap="square">
            <a:spAutoFit/>
          </a:bodyPr>
          <a:lstStyle/>
          <a:p>
            <a:pPr>
              <a:spcAft>
                <a:spcPts val="700"/>
              </a:spcAft>
              <a:defRPr sz="1400" b="0">
                <a:solidFill>
                  <a:srgbClr val="64748B"/>
                </a:solidFill>
                <a:latin typeface="Aptos"/>
              </a:defRPr>
            </a:pPr>
            <a:r>
              <a:rPr lang="en-ID" sz="1400" dirty="0" err="1">
                <a:solidFill>
                  <a:srgbClr val="64748B"/>
                </a:solidFill>
                <a:latin typeface="Aptos"/>
              </a:rPr>
              <a:t>Prioritaskan</a:t>
            </a:r>
            <a:r>
              <a:rPr lang="en-ID" sz="1400" dirty="0">
                <a:solidFill>
                  <a:srgbClr val="64748B"/>
                </a:solidFill>
                <a:latin typeface="Aptos"/>
              </a:rPr>
              <a:t> </a:t>
            </a:r>
            <a:r>
              <a:rPr lang="en-ID" sz="1400" dirty="0" err="1">
                <a:solidFill>
                  <a:srgbClr val="64748B"/>
                </a:solidFill>
                <a:latin typeface="Aptos"/>
              </a:rPr>
              <a:t>ketersediaan</a:t>
            </a:r>
            <a:r>
              <a:rPr lang="en-ID" sz="1400" dirty="0">
                <a:solidFill>
                  <a:srgbClr val="64748B"/>
                </a:solidFill>
                <a:latin typeface="Aptos"/>
              </a:rPr>
              <a:t> </a:t>
            </a:r>
            <a:r>
              <a:rPr lang="en-ID" sz="1400" dirty="0" err="1">
                <a:solidFill>
                  <a:srgbClr val="64748B"/>
                </a:solidFill>
                <a:latin typeface="Aptos"/>
              </a:rPr>
              <a:t>stok</a:t>
            </a:r>
            <a:r>
              <a:rPr lang="en-ID" sz="1400" dirty="0">
                <a:solidFill>
                  <a:srgbClr val="64748B"/>
                </a:solidFill>
                <a:latin typeface="Aptos"/>
              </a:rPr>
              <a:t> dan strategi </a:t>
            </a:r>
            <a:r>
              <a:rPr lang="en-ID" sz="1400" dirty="0" err="1">
                <a:solidFill>
                  <a:srgbClr val="64748B"/>
                </a:solidFill>
                <a:latin typeface="Aptos"/>
              </a:rPr>
              <a:t>pemasaran</a:t>
            </a:r>
            <a:r>
              <a:rPr lang="en-ID" sz="1400" dirty="0">
                <a:solidFill>
                  <a:srgbClr val="64748B"/>
                </a:solidFill>
                <a:latin typeface="Aptos"/>
              </a:rPr>
              <a:t> pada </a:t>
            </a:r>
            <a:r>
              <a:rPr lang="en-ID" sz="1400" dirty="0" err="1">
                <a:solidFill>
                  <a:srgbClr val="64748B"/>
                </a:solidFill>
                <a:latin typeface="Aptos"/>
              </a:rPr>
              <a:t>produk</a:t>
            </a:r>
            <a:r>
              <a:rPr lang="en-ID" sz="1400" dirty="0">
                <a:solidFill>
                  <a:srgbClr val="64748B"/>
                </a:solidFill>
                <a:latin typeface="Aptos"/>
              </a:rPr>
              <a:t> </a:t>
            </a:r>
            <a:r>
              <a:rPr lang="en-ID" sz="1400" dirty="0" err="1">
                <a:solidFill>
                  <a:srgbClr val="64748B"/>
                </a:solidFill>
                <a:latin typeface="Aptos"/>
              </a:rPr>
              <a:t>serta</a:t>
            </a:r>
            <a:r>
              <a:rPr lang="en-ID" sz="1400" dirty="0">
                <a:solidFill>
                  <a:srgbClr val="64748B"/>
                </a:solidFill>
                <a:latin typeface="Aptos"/>
              </a:rPr>
              <a:t> </a:t>
            </a:r>
            <a:r>
              <a:rPr lang="en-ID" sz="1400" dirty="0" err="1">
                <a:solidFill>
                  <a:srgbClr val="64748B"/>
                </a:solidFill>
                <a:latin typeface="Aptos"/>
              </a:rPr>
              <a:t>kategori</a:t>
            </a:r>
            <a:r>
              <a:rPr lang="en-ID" sz="1400" dirty="0">
                <a:solidFill>
                  <a:srgbClr val="64748B"/>
                </a:solidFill>
                <a:latin typeface="Aptos"/>
              </a:rPr>
              <a:t> </a:t>
            </a:r>
            <a:r>
              <a:rPr lang="en-ID" sz="1400" dirty="0" err="1">
                <a:solidFill>
                  <a:srgbClr val="64748B"/>
                </a:solidFill>
                <a:latin typeface="Aptos"/>
              </a:rPr>
              <a:t>dengan</a:t>
            </a:r>
            <a:r>
              <a:rPr lang="en-ID" sz="1400" dirty="0">
                <a:solidFill>
                  <a:srgbClr val="64748B"/>
                </a:solidFill>
                <a:latin typeface="Aptos"/>
              </a:rPr>
              <a:t> </a:t>
            </a:r>
            <a:r>
              <a:rPr lang="en-ID" sz="1400" dirty="0" err="1">
                <a:solidFill>
                  <a:srgbClr val="64748B"/>
                </a:solidFill>
                <a:latin typeface="Aptos"/>
              </a:rPr>
              <a:t>kontribusi</a:t>
            </a:r>
            <a:r>
              <a:rPr lang="en-ID" sz="1400" dirty="0">
                <a:solidFill>
                  <a:srgbClr val="64748B"/>
                </a:solidFill>
                <a:latin typeface="Aptos"/>
              </a:rPr>
              <a:t> </a:t>
            </a:r>
            <a:r>
              <a:rPr lang="en-ID" sz="1400" dirty="0" err="1">
                <a:solidFill>
                  <a:srgbClr val="64748B"/>
                </a:solidFill>
                <a:latin typeface="Aptos"/>
              </a:rPr>
              <a:t>penjualan</a:t>
            </a:r>
            <a:r>
              <a:rPr lang="en-ID" sz="1400" dirty="0">
                <a:solidFill>
                  <a:srgbClr val="64748B"/>
                </a:solidFill>
                <a:latin typeface="Aptos"/>
              </a:rPr>
              <a:t> </a:t>
            </a:r>
            <a:r>
              <a:rPr lang="en-ID" sz="1400" dirty="0" err="1">
                <a:solidFill>
                  <a:srgbClr val="64748B"/>
                </a:solidFill>
                <a:latin typeface="Aptos"/>
              </a:rPr>
              <a:t>tertinggi</a:t>
            </a:r>
            <a:r>
              <a:rPr lang="en-ID" sz="1400" dirty="0">
                <a:solidFill>
                  <a:srgbClr val="64748B"/>
                </a:solidFill>
                <a:latin typeface="Aptos"/>
              </a:rPr>
              <a:t> </a:t>
            </a:r>
            <a:r>
              <a:rPr lang="en-ID" sz="1400" dirty="0" err="1">
                <a:solidFill>
                  <a:srgbClr val="64748B"/>
                </a:solidFill>
                <a:latin typeface="Aptos"/>
              </a:rPr>
              <a:t>untuk</a:t>
            </a:r>
            <a:r>
              <a:rPr lang="en-ID" sz="1400" dirty="0">
                <a:solidFill>
                  <a:srgbClr val="64748B"/>
                </a:solidFill>
                <a:latin typeface="Aptos"/>
              </a:rPr>
              <a:t> </a:t>
            </a:r>
            <a:r>
              <a:rPr lang="en-ID" sz="1400" dirty="0" err="1">
                <a:solidFill>
                  <a:srgbClr val="64748B"/>
                </a:solidFill>
                <a:latin typeface="Aptos"/>
              </a:rPr>
              <a:t>menjaga</a:t>
            </a:r>
            <a:r>
              <a:rPr lang="en-ID" sz="1400" dirty="0">
                <a:solidFill>
                  <a:srgbClr val="64748B"/>
                </a:solidFill>
                <a:latin typeface="Aptos"/>
              </a:rPr>
              <a:t> dan </a:t>
            </a:r>
            <a:r>
              <a:rPr lang="en-ID" sz="1400" dirty="0" err="1">
                <a:solidFill>
                  <a:srgbClr val="64748B"/>
                </a:solidFill>
                <a:latin typeface="Aptos"/>
              </a:rPr>
              <a:t>meningkatkan</a:t>
            </a:r>
            <a:r>
              <a:rPr lang="en-ID" sz="1400" dirty="0">
                <a:solidFill>
                  <a:srgbClr val="64748B"/>
                </a:solidFill>
                <a:latin typeface="Aptos"/>
              </a:rPr>
              <a:t> </a:t>
            </a:r>
            <a:r>
              <a:rPr lang="en-ID" sz="1400" dirty="0" err="1">
                <a:solidFill>
                  <a:srgbClr val="64748B"/>
                </a:solidFill>
                <a:latin typeface="Aptos"/>
              </a:rPr>
              <a:t>pendapatan</a:t>
            </a:r>
            <a:r>
              <a:rPr lang="en-ID" sz="1400" dirty="0">
                <a:solidFill>
                  <a:srgbClr val="64748B"/>
                </a:solidFill>
                <a:latin typeface="Aptos"/>
              </a:rPr>
              <a:t>.</a:t>
            </a:r>
            <a:endParaRPr dirty="0"/>
          </a:p>
        </p:txBody>
      </p:sp>
      <p:sp>
        <p:nvSpPr>
          <p:cNvPr id="10" name="Rounded Rectangle 9"/>
          <p:cNvSpPr/>
          <p:nvPr/>
        </p:nvSpPr>
        <p:spPr>
          <a:xfrm>
            <a:off x="502920" y="3959352"/>
            <a:ext cx="8138160" cy="1536192"/>
          </a:xfrm>
          <a:prstGeom prst="roundRect">
            <a:avLst/>
          </a:prstGeom>
          <a:solidFill>
            <a:srgbClr val="FFFFFF"/>
          </a:solidFill>
          <a:ln>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4123944"/>
            <a:ext cx="7680960" cy="365760"/>
          </a:xfrm>
          <a:prstGeom prst="rect">
            <a:avLst/>
          </a:prstGeom>
          <a:noFill/>
        </p:spPr>
        <p:txBody>
          <a:bodyPr wrap="square">
            <a:spAutoFit/>
          </a:bodyPr>
          <a:lstStyle/>
          <a:p>
            <a:pPr>
              <a:spcAft>
                <a:spcPts val="700"/>
              </a:spcAft>
              <a:defRPr sz="1700" b="1">
                <a:solidFill>
                  <a:srgbClr val="102C50"/>
                </a:solidFill>
                <a:latin typeface="Aptos"/>
              </a:defRPr>
            </a:pPr>
            <a:r>
              <a:t>IMPROVE STORE PERFORMANCE</a:t>
            </a:r>
          </a:p>
        </p:txBody>
      </p:sp>
      <p:sp>
        <p:nvSpPr>
          <p:cNvPr id="12" name="TextBox 11"/>
          <p:cNvSpPr txBox="1"/>
          <p:nvPr/>
        </p:nvSpPr>
        <p:spPr>
          <a:xfrm>
            <a:off x="731520" y="4465838"/>
            <a:ext cx="7680960" cy="523220"/>
          </a:xfrm>
          <a:prstGeom prst="rect">
            <a:avLst/>
          </a:prstGeom>
          <a:noFill/>
        </p:spPr>
        <p:txBody>
          <a:bodyPr wrap="square">
            <a:spAutoFit/>
          </a:bodyPr>
          <a:lstStyle/>
          <a:p>
            <a:pPr>
              <a:spcAft>
                <a:spcPts val="700"/>
              </a:spcAft>
              <a:defRPr sz="1400" b="0">
                <a:solidFill>
                  <a:srgbClr val="64748B"/>
                </a:solidFill>
                <a:latin typeface="Aptos"/>
              </a:defRPr>
            </a:pPr>
            <a:r>
              <a:rPr lang="en-ID" sz="1400" dirty="0" err="1">
                <a:solidFill>
                  <a:srgbClr val="64748B"/>
                </a:solidFill>
                <a:latin typeface="Aptos"/>
              </a:rPr>
              <a:t>Evaluasi</a:t>
            </a:r>
            <a:r>
              <a:rPr lang="en-ID" sz="1400" dirty="0">
                <a:solidFill>
                  <a:srgbClr val="64748B"/>
                </a:solidFill>
                <a:latin typeface="Aptos"/>
              </a:rPr>
              <a:t> </a:t>
            </a:r>
            <a:r>
              <a:rPr lang="en-ID" sz="1400" dirty="0" err="1">
                <a:solidFill>
                  <a:srgbClr val="64748B"/>
                </a:solidFill>
                <a:latin typeface="Aptos"/>
              </a:rPr>
              <a:t>perbedaan</a:t>
            </a:r>
            <a:r>
              <a:rPr lang="en-ID" sz="1400" dirty="0">
                <a:solidFill>
                  <a:srgbClr val="64748B"/>
                </a:solidFill>
                <a:latin typeface="Aptos"/>
              </a:rPr>
              <a:t> </a:t>
            </a:r>
            <a:r>
              <a:rPr lang="en-ID" sz="1400" dirty="0" err="1">
                <a:solidFill>
                  <a:srgbClr val="64748B"/>
                </a:solidFill>
                <a:latin typeface="Aptos"/>
              </a:rPr>
              <a:t>performa</a:t>
            </a:r>
            <a:r>
              <a:rPr lang="en-ID" sz="1400" dirty="0">
                <a:solidFill>
                  <a:srgbClr val="64748B"/>
                </a:solidFill>
                <a:latin typeface="Aptos"/>
              </a:rPr>
              <a:t> </a:t>
            </a:r>
            <a:r>
              <a:rPr lang="en-ID" sz="1400" dirty="0" err="1">
                <a:solidFill>
                  <a:srgbClr val="64748B"/>
                </a:solidFill>
                <a:latin typeface="Aptos"/>
              </a:rPr>
              <a:t>penjualan</a:t>
            </a:r>
            <a:r>
              <a:rPr lang="en-ID" sz="1400" dirty="0">
                <a:solidFill>
                  <a:srgbClr val="64748B"/>
                </a:solidFill>
                <a:latin typeface="Aptos"/>
              </a:rPr>
              <a:t> </a:t>
            </a:r>
            <a:r>
              <a:rPr lang="en-ID" sz="1400" dirty="0" err="1">
                <a:solidFill>
                  <a:srgbClr val="64748B"/>
                </a:solidFill>
                <a:latin typeface="Aptos"/>
              </a:rPr>
              <a:t>antar</a:t>
            </a:r>
            <a:r>
              <a:rPr lang="en-ID" sz="1400" dirty="0">
                <a:solidFill>
                  <a:srgbClr val="64748B"/>
                </a:solidFill>
                <a:latin typeface="Aptos"/>
              </a:rPr>
              <a:t> toko dan </a:t>
            </a:r>
            <a:r>
              <a:rPr lang="en-ID" sz="1400" dirty="0" err="1">
                <a:solidFill>
                  <a:srgbClr val="64748B"/>
                </a:solidFill>
                <a:latin typeface="Aptos"/>
              </a:rPr>
              <a:t>identifikasi</a:t>
            </a:r>
            <a:r>
              <a:rPr lang="en-ID" sz="1400" dirty="0">
                <a:solidFill>
                  <a:srgbClr val="64748B"/>
                </a:solidFill>
                <a:latin typeface="Aptos"/>
              </a:rPr>
              <a:t> strategi </a:t>
            </a:r>
            <a:r>
              <a:rPr lang="en-ID" sz="1400" dirty="0" err="1">
                <a:solidFill>
                  <a:srgbClr val="64748B"/>
                </a:solidFill>
                <a:latin typeface="Aptos"/>
              </a:rPr>
              <a:t>dari</a:t>
            </a:r>
            <a:r>
              <a:rPr lang="en-ID" sz="1400" dirty="0">
                <a:solidFill>
                  <a:srgbClr val="64748B"/>
                </a:solidFill>
                <a:latin typeface="Aptos"/>
              </a:rPr>
              <a:t> toko </a:t>
            </a:r>
            <a:r>
              <a:rPr lang="en-ID" sz="1400" dirty="0" err="1">
                <a:solidFill>
                  <a:srgbClr val="64748B"/>
                </a:solidFill>
                <a:latin typeface="Aptos"/>
              </a:rPr>
              <a:t>dengan</a:t>
            </a:r>
            <a:r>
              <a:rPr lang="en-ID" sz="1400" dirty="0">
                <a:solidFill>
                  <a:srgbClr val="64748B"/>
                </a:solidFill>
                <a:latin typeface="Aptos"/>
              </a:rPr>
              <a:t> </a:t>
            </a:r>
            <a:r>
              <a:rPr lang="en-ID" sz="1400" dirty="0" err="1">
                <a:solidFill>
                  <a:srgbClr val="64748B"/>
                </a:solidFill>
                <a:latin typeface="Aptos"/>
              </a:rPr>
              <a:t>kinerja</a:t>
            </a:r>
            <a:r>
              <a:rPr lang="en-ID" sz="1400" dirty="0">
                <a:solidFill>
                  <a:srgbClr val="64748B"/>
                </a:solidFill>
                <a:latin typeface="Aptos"/>
              </a:rPr>
              <a:t> </a:t>
            </a:r>
            <a:r>
              <a:rPr lang="en-ID" sz="1400" dirty="0" err="1">
                <a:solidFill>
                  <a:srgbClr val="64748B"/>
                </a:solidFill>
                <a:latin typeface="Aptos"/>
              </a:rPr>
              <a:t>terbaik</a:t>
            </a:r>
            <a:r>
              <a:rPr lang="en-ID" sz="1400" dirty="0">
                <a:solidFill>
                  <a:srgbClr val="64748B"/>
                </a:solidFill>
                <a:latin typeface="Aptos"/>
              </a:rPr>
              <a:t> </a:t>
            </a:r>
            <a:r>
              <a:rPr lang="en-ID" sz="1400" dirty="0" err="1">
                <a:solidFill>
                  <a:srgbClr val="64748B"/>
                </a:solidFill>
                <a:latin typeface="Aptos"/>
              </a:rPr>
              <a:t>untuk</a:t>
            </a:r>
            <a:r>
              <a:rPr lang="en-ID" sz="1400" dirty="0">
                <a:solidFill>
                  <a:srgbClr val="64748B"/>
                </a:solidFill>
                <a:latin typeface="Aptos"/>
              </a:rPr>
              <a:t> </a:t>
            </a:r>
            <a:r>
              <a:rPr lang="en-ID" sz="1400" dirty="0" err="1">
                <a:solidFill>
                  <a:srgbClr val="64748B"/>
                </a:solidFill>
                <a:latin typeface="Aptos"/>
              </a:rPr>
              <a:t>membantu</a:t>
            </a:r>
            <a:r>
              <a:rPr lang="en-ID" sz="1400" dirty="0">
                <a:solidFill>
                  <a:srgbClr val="64748B"/>
                </a:solidFill>
                <a:latin typeface="Aptos"/>
              </a:rPr>
              <a:t> </a:t>
            </a:r>
            <a:r>
              <a:rPr lang="en-ID" sz="1400" dirty="0" err="1">
                <a:solidFill>
                  <a:srgbClr val="64748B"/>
                </a:solidFill>
                <a:latin typeface="Aptos"/>
              </a:rPr>
              <a:t>meningkatkan</a:t>
            </a:r>
            <a:r>
              <a:rPr lang="en-ID" sz="1400" dirty="0">
                <a:solidFill>
                  <a:srgbClr val="64748B"/>
                </a:solidFill>
                <a:latin typeface="Aptos"/>
              </a:rPr>
              <a:t> </a:t>
            </a:r>
            <a:r>
              <a:rPr lang="en-ID" sz="1400" dirty="0" err="1">
                <a:solidFill>
                  <a:srgbClr val="64748B"/>
                </a:solidFill>
                <a:latin typeface="Aptos"/>
              </a:rPr>
              <a:t>penjualan</a:t>
            </a:r>
            <a:r>
              <a:rPr lang="en-ID" sz="1400" dirty="0">
                <a:solidFill>
                  <a:srgbClr val="64748B"/>
                </a:solidFill>
                <a:latin typeface="Aptos"/>
              </a:rPr>
              <a:t> toko yang </a:t>
            </a:r>
            <a:r>
              <a:rPr lang="en-ID" sz="1400" dirty="0" err="1">
                <a:solidFill>
                  <a:srgbClr val="64748B"/>
                </a:solidFill>
                <a:latin typeface="Aptos"/>
              </a:rPr>
              <a:t>masih</a:t>
            </a:r>
            <a:r>
              <a:rPr lang="en-ID" sz="1400" dirty="0">
                <a:solidFill>
                  <a:srgbClr val="64748B"/>
                </a:solidFill>
                <a:latin typeface="Aptos"/>
              </a:rPr>
              <a:t> </a:t>
            </a:r>
            <a:r>
              <a:rPr lang="en-ID" sz="1400" dirty="0" err="1">
                <a:solidFill>
                  <a:srgbClr val="64748B"/>
                </a:solidFill>
                <a:latin typeface="Aptos"/>
              </a:rPr>
              <a:t>tertinggal</a:t>
            </a:r>
            <a:r>
              <a:rPr lang="en-ID" sz="1400" dirty="0">
                <a:solidFill>
                  <a:srgbClr val="64748B"/>
                </a:solidFill>
                <a:latin typeface="Aptos"/>
              </a:rPr>
              <a:t>.</a:t>
            </a:r>
            <a:endParaRPr dirty="0"/>
          </a:p>
        </p:txBody>
      </p:sp>
      <p:sp>
        <p:nvSpPr>
          <p:cNvPr id="13" name="Rounded Rectangle 12"/>
          <p:cNvSpPr/>
          <p:nvPr/>
        </p:nvSpPr>
        <p:spPr>
          <a:xfrm>
            <a:off x="502920" y="5678424"/>
            <a:ext cx="8138160" cy="1536192"/>
          </a:xfrm>
          <a:prstGeom prst="roundRect">
            <a:avLst/>
          </a:prstGeom>
          <a:solidFill>
            <a:srgbClr val="FFFFFF"/>
          </a:solidFill>
          <a:ln>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5843016"/>
            <a:ext cx="7680960" cy="365760"/>
          </a:xfrm>
          <a:prstGeom prst="rect">
            <a:avLst/>
          </a:prstGeom>
          <a:noFill/>
        </p:spPr>
        <p:txBody>
          <a:bodyPr wrap="square">
            <a:spAutoFit/>
          </a:bodyPr>
          <a:lstStyle/>
          <a:p>
            <a:pPr>
              <a:spcAft>
                <a:spcPts val="700"/>
              </a:spcAft>
              <a:defRPr sz="1700" b="1">
                <a:solidFill>
                  <a:srgbClr val="102C50"/>
                </a:solidFill>
                <a:latin typeface="Aptos"/>
              </a:defRPr>
            </a:pPr>
            <a:r>
              <a:t>OPTIMIZE INVENTORY</a:t>
            </a:r>
          </a:p>
        </p:txBody>
      </p:sp>
      <p:sp>
        <p:nvSpPr>
          <p:cNvPr id="15" name="TextBox 14"/>
          <p:cNvSpPr txBox="1"/>
          <p:nvPr/>
        </p:nvSpPr>
        <p:spPr>
          <a:xfrm>
            <a:off x="731520" y="6166114"/>
            <a:ext cx="7680960" cy="523220"/>
          </a:xfrm>
          <a:prstGeom prst="rect">
            <a:avLst/>
          </a:prstGeom>
          <a:noFill/>
        </p:spPr>
        <p:txBody>
          <a:bodyPr wrap="square">
            <a:spAutoFit/>
          </a:bodyPr>
          <a:lstStyle/>
          <a:p>
            <a:pPr>
              <a:spcAft>
                <a:spcPts val="700"/>
              </a:spcAft>
              <a:defRPr sz="1400" b="0">
                <a:solidFill>
                  <a:srgbClr val="64748B"/>
                </a:solidFill>
                <a:latin typeface="Aptos"/>
              </a:defRPr>
            </a:pPr>
            <a:r>
              <a:rPr lang="en-ID" sz="1400" dirty="0" err="1">
                <a:solidFill>
                  <a:srgbClr val="64748B"/>
                </a:solidFill>
                <a:latin typeface="Aptos"/>
              </a:rPr>
              <a:t>Evaluasi</a:t>
            </a:r>
            <a:r>
              <a:rPr lang="en-ID" sz="1400" dirty="0">
                <a:solidFill>
                  <a:srgbClr val="64748B"/>
                </a:solidFill>
                <a:latin typeface="Aptos"/>
              </a:rPr>
              <a:t> </a:t>
            </a:r>
            <a:r>
              <a:rPr lang="en-ID" sz="1400" dirty="0" err="1">
                <a:solidFill>
                  <a:srgbClr val="64748B"/>
                </a:solidFill>
                <a:latin typeface="Aptos"/>
              </a:rPr>
              <a:t>produk</a:t>
            </a:r>
            <a:r>
              <a:rPr lang="en-ID" sz="1400" dirty="0">
                <a:solidFill>
                  <a:srgbClr val="64748B"/>
                </a:solidFill>
                <a:latin typeface="Aptos"/>
              </a:rPr>
              <a:t> </a:t>
            </a:r>
            <a:r>
              <a:rPr lang="en-ID" sz="1400" dirty="0" err="1">
                <a:solidFill>
                  <a:srgbClr val="64748B"/>
                </a:solidFill>
                <a:latin typeface="Aptos"/>
              </a:rPr>
              <a:t>dengan</a:t>
            </a:r>
            <a:r>
              <a:rPr lang="en-ID" sz="1400" dirty="0">
                <a:solidFill>
                  <a:srgbClr val="64748B"/>
                </a:solidFill>
                <a:latin typeface="Aptos"/>
              </a:rPr>
              <a:t> </a:t>
            </a:r>
            <a:r>
              <a:rPr lang="en-ID" sz="1400" dirty="0" err="1">
                <a:solidFill>
                  <a:srgbClr val="64748B"/>
                </a:solidFill>
                <a:latin typeface="Aptos"/>
              </a:rPr>
              <a:t>stok</a:t>
            </a:r>
            <a:r>
              <a:rPr lang="en-ID" sz="1400" dirty="0">
                <a:solidFill>
                  <a:srgbClr val="64748B"/>
                </a:solidFill>
                <a:latin typeface="Aptos"/>
              </a:rPr>
              <a:t> </a:t>
            </a:r>
            <a:r>
              <a:rPr lang="en-ID" sz="1400" dirty="0" err="1">
                <a:solidFill>
                  <a:srgbClr val="64748B"/>
                </a:solidFill>
                <a:latin typeface="Aptos"/>
              </a:rPr>
              <a:t>tinggi</a:t>
            </a:r>
            <a:r>
              <a:rPr lang="en-ID" sz="1400" dirty="0">
                <a:solidFill>
                  <a:srgbClr val="64748B"/>
                </a:solidFill>
                <a:latin typeface="Aptos"/>
              </a:rPr>
              <a:t> </a:t>
            </a:r>
            <a:r>
              <a:rPr lang="en-ID" sz="1400" dirty="0" err="1">
                <a:solidFill>
                  <a:srgbClr val="64748B"/>
                </a:solidFill>
                <a:latin typeface="Aptos"/>
              </a:rPr>
              <a:t>tetapi</a:t>
            </a:r>
            <a:r>
              <a:rPr lang="en-ID" sz="1400" dirty="0">
                <a:solidFill>
                  <a:srgbClr val="64748B"/>
                </a:solidFill>
                <a:latin typeface="Aptos"/>
              </a:rPr>
              <a:t> </a:t>
            </a:r>
            <a:r>
              <a:rPr lang="en-ID" sz="1400" dirty="0" err="1">
                <a:solidFill>
                  <a:srgbClr val="64748B"/>
                </a:solidFill>
                <a:latin typeface="Aptos"/>
              </a:rPr>
              <a:t>penjualan</a:t>
            </a:r>
            <a:r>
              <a:rPr lang="en-ID" sz="1400" dirty="0">
                <a:solidFill>
                  <a:srgbClr val="64748B"/>
                </a:solidFill>
                <a:latin typeface="Aptos"/>
              </a:rPr>
              <a:t> </a:t>
            </a:r>
            <a:r>
              <a:rPr lang="en-ID" sz="1400" dirty="0" err="1">
                <a:solidFill>
                  <a:srgbClr val="64748B"/>
                </a:solidFill>
                <a:latin typeface="Aptos"/>
              </a:rPr>
              <a:t>rendah</a:t>
            </a:r>
            <a:r>
              <a:rPr lang="en-ID" sz="1400" dirty="0">
                <a:solidFill>
                  <a:srgbClr val="64748B"/>
                </a:solidFill>
                <a:latin typeface="Aptos"/>
              </a:rPr>
              <a:t> </a:t>
            </a:r>
            <a:r>
              <a:rPr lang="en-ID" sz="1400" dirty="0" err="1">
                <a:solidFill>
                  <a:srgbClr val="64748B"/>
                </a:solidFill>
                <a:latin typeface="Aptos"/>
              </a:rPr>
              <a:t>sebelum</a:t>
            </a:r>
            <a:r>
              <a:rPr lang="en-ID" sz="1400" dirty="0">
                <a:solidFill>
                  <a:srgbClr val="64748B"/>
                </a:solidFill>
                <a:latin typeface="Aptos"/>
              </a:rPr>
              <a:t> </a:t>
            </a:r>
            <a:r>
              <a:rPr lang="en-ID" sz="1400" dirty="0" err="1">
                <a:solidFill>
                  <a:srgbClr val="64748B"/>
                </a:solidFill>
                <a:latin typeface="Aptos"/>
              </a:rPr>
              <a:t>melakukan</a:t>
            </a:r>
            <a:r>
              <a:rPr lang="en-ID" sz="1400" dirty="0">
                <a:solidFill>
                  <a:srgbClr val="64748B"/>
                </a:solidFill>
                <a:latin typeface="Aptos"/>
              </a:rPr>
              <a:t> </a:t>
            </a:r>
            <a:r>
              <a:rPr lang="en-ID" sz="1400" dirty="0" err="1">
                <a:solidFill>
                  <a:srgbClr val="64748B"/>
                </a:solidFill>
                <a:latin typeface="Aptos"/>
              </a:rPr>
              <a:t>pengadaan</a:t>
            </a:r>
            <a:r>
              <a:rPr lang="en-ID" sz="1400" dirty="0">
                <a:solidFill>
                  <a:srgbClr val="64748B"/>
                </a:solidFill>
                <a:latin typeface="Aptos"/>
              </a:rPr>
              <a:t> </a:t>
            </a:r>
            <a:r>
              <a:rPr lang="en-ID" sz="1400" dirty="0" err="1">
                <a:solidFill>
                  <a:srgbClr val="64748B"/>
                </a:solidFill>
                <a:latin typeface="Aptos"/>
              </a:rPr>
              <a:t>ulang</a:t>
            </a:r>
            <a:r>
              <a:rPr lang="en-ID" sz="1400" dirty="0">
                <a:solidFill>
                  <a:srgbClr val="64748B"/>
                </a:solidFill>
                <a:latin typeface="Aptos"/>
              </a:rPr>
              <a:t>, agar </a:t>
            </a:r>
            <a:r>
              <a:rPr lang="en-ID" sz="1400" dirty="0" err="1">
                <a:solidFill>
                  <a:srgbClr val="64748B"/>
                </a:solidFill>
                <a:latin typeface="Aptos"/>
              </a:rPr>
              <a:t>persediaan</a:t>
            </a:r>
            <a:r>
              <a:rPr lang="en-ID" sz="1400" dirty="0">
                <a:solidFill>
                  <a:srgbClr val="64748B"/>
                </a:solidFill>
                <a:latin typeface="Aptos"/>
              </a:rPr>
              <a:t> </a:t>
            </a:r>
            <a:r>
              <a:rPr lang="en-ID" sz="1400" dirty="0" err="1">
                <a:solidFill>
                  <a:srgbClr val="64748B"/>
                </a:solidFill>
                <a:latin typeface="Aptos"/>
              </a:rPr>
              <a:t>lebih</a:t>
            </a:r>
            <a:r>
              <a:rPr lang="en-ID" sz="1400" dirty="0">
                <a:solidFill>
                  <a:srgbClr val="64748B"/>
                </a:solidFill>
                <a:latin typeface="Aptos"/>
              </a:rPr>
              <a:t> </a:t>
            </a:r>
            <a:r>
              <a:rPr lang="en-ID" sz="1400" dirty="0" err="1">
                <a:solidFill>
                  <a:srgbClr val="64748B"/>
                </a:solidFill>
                <a:latin typeface="Aptos"/>
              </a:rPr>
              <a:t>efisien</a:t>
            </a:r>
            <a:r>
              <a:rPr lang="en-ID" sz="1400" dirty="0">
                <a:solidFill>
                  <a:srgbClr val="64748B"/>
                </a:solidFill>
                <a:latin typeface="Aptos"/>
              </a:rPr>
              <a:t> dan </a:t>
            </a:r>
            <a:r>
              <a:rPr lang="en-ID" sz="1400" dirty="0" err="1">
                <a:solidFill>
                  <a:srgbClr val="64748B"/>
                </a:solidFill>
                <a:latin typeface="Aptos"/>
              </a:rPr>
              <a:t>mengurangi</a:t>
            </a:r>
            <a:r>
              <a:rPr lang="en-ID" sz="1400" dirty="0">
                <a:solidFill>
                  <a:srgbClr val="64748B"/>
                </a:solidFill>
                <a:latin typeface="Aptos"/>
              </a:rPr>
              <a:t> </a:t>
            </a:r>
            <a:r>
              <a:rPr lang="en-ID" sz="1400" dirty="0" err="1">
                <a:solidFill>
                  <a:srgbClr val="64748B"/>
                </a:solidFill>
                <a:latin typeface="Aptos"/>
              </a:rPr>
              <a:t>risiko</a:t>
            </a:r>
            <a:r>
              <a:rPr lang="en-ID" sz="1400" dirty="0">
                <a:solidFill>
                  <a:srgbClr val="64748B"/>
                </a:solidFill>
                <a:latin typeface="Aptos"/>
              </a:rPr>
              <a:t> </a:t>
            </a:r>
            <a:r>
              <a:rPr lang="en-ID" sz="1400" dirty="0" err="1">
                <a:solidFill>
                  <a:srgbClr val="64748B"/>
                </a:solidFill>
                <a:latin typeface="Aptos"/>
              </a:rPr>
              <a:t>penumpukan</a:t>
            </a:r>
            <a:r>
              <a:rPr lang="en-ID" sz="1400" dirty="0">
                <a:solidFill>
                  <a:srgbClr val="64748B"/>
                </a:solidFill>
                <a:latin typeface="Aptos"/>
              </a:rPr>
              <a:t> </a:t>
            </a:r>
            <a:r>
              <a:rPr lang="en-ID" sz="1400" dirty="0" err="1">
                <a:solidFill>
                  <a:srgbClr val="64748B"/>
                </a:solidFill>
                <a:latin typeface="Aptos"/>
              </a:rPr>
              <a:t>stok</a:t>
            </a:r>
            <a:r>
              <a:rPr lang="en-ID" sz="1400" dirty="0">
                <a:solidFill>
                  <a:srgbClr val="64748B"/>
                </a:solidFill>
                <a:latin typeface="Aptos"/>
              </a:rPr>
              <a:t>.</a:t>
            </a:r>
            <a:endParaRPr dirty="0"/>
          </a:p>
        </p:txBody>
      </p:sp>
      <p:sp>
        <p:nvSpPr>
          <p:cNvPr id="16" name="Rounded Rectangle 15"/>
          <p:cNvSpPr/>
          <p:nvPr/>
        </p:nvSpPr>
        <p:spPr>
          <a:xfrm>
            <a:off x="502920" y="7397496"/>
            <a:ext cx="8138160" cy="1536192"/>
          </a:xfrm>
          <a:prstGeom prst="roundRect">
            <a:avLst/>
          </a:prstGeom>
          <a:solidFill>
            <a:srgbClr val="FFFFFF"/>
          </a:solidFill>
          <a:ln>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7562088"/>
            <a:ext cx="7680960" cy="365760"/>
          </a:xfrm>
          <a:prstGeom prst="rect">
            <a:avLst/>
          </a:prstGeom>
          <a:noFill/>
        </p:spPr>
        <p:txBody>
          <a:bodyPr wrap="square">
            <a:spAutoFit/>
          </a:bodyPr>
          <a:lstStyle/>
          <a:p>
            <a:pPr>
              <a:spcAft>
                <a:spcPts val="700"/>
              </a:spcAft>
              <a:defRPr sz="1700" b="1">
                <a:solidFill>
                  <a:srgbClr val="102C50"/>
                </a:solidFill>
                <a:latin typeface="Aptos"/>
              </a:defRPr>
            </a:pPr>
            <a:r>
              <a:t>MONITOR PERFORMANCE</a:t>
            </a:r>
          </a:p>
        </p:txBody>
      </p:sp>
      <p:sp>
        <p:nvSpPr>
          <p:cNvPr id="18" name="TextBox 17"/>
          <p:cNvSpPr txBox="1"/>
          <p:nvPr/>
        </p:nvSpPr>
        <p:spPr>
          <a:xfrm>
            <a:off x="731520" y="7860268"/>
            <a:ext cx="7680960" cy="738664"/>
          </a:xfrm>
          <a:prstGeom prst="rect">
            <a:avLst/>
          </a:prstGeom>
          <a:noFill/>
        </p:spPr>
        <p:txBody>
          <a:bodyPr wrap="square">
            <a:spAutoFit/>
          </a:bodyPr>
          <a:lstStyle/>
          <a:p>
            <a:pPr>
              <a:spcAft>
                <a:spcPts val="700"/>
              </a:spcAft>
              <a:defRPr sz="1400" b="0">
                <a:solidFill>
                  <a:srgbClr val="64748B"/>
                </a:solidFill>
                <a:latin typeface="Aptos"/>
              </a:defRPr>
            </a:pPr>
            <a:r>
              <a:rPr lang="en-ID" sz="1400" dirty="0" err="1">
                <a:solidFill>
                  <a:srgbClr val="64748B"/>
                </a:solidFill>
                <a:latin typeface="Aptos"/>
              </a:rPr>
              <a:t>Manfaatkan</a:t>
            </a:r>
            <a:r>
              <a:rPr lang="en-ID" sz="1400" dirty="0">
                <a:solidFill>
                  <a:srgbClr val="64748B"/>
                </a:solidFill>
                <a:latin typeface="Aptos"/>
              </a:rPr>
              <a:t> dashboard </a:t>
            </a:r>
            <a:r>
              <a:rPr lang="en-ID" sz="1400" dirty="0" err="1">
                <a:solidFill>
                  <a:srgbClr val="64748B"/>
                </a:solidFill>
                <a:latin typeface="Aptos"/>
              </a:rPr>
              <a:t>secara</a:t>
            </a:r>
            <a:r>
              <a:rPr lang="en-ID" sz="1400" dirty="0">
                <a:solidFill>
                  <a:srgbClr val="64748B"/>
                </a:solidFill>
                <a:latin typeface="Aptos"/>
              </a:rPr>
              <a:t> rutin </a:t>
            </a:r>
            <a:r>
              <a:rPr lang="en-ID" sz="1400" dirty="0" err="1">
                <a:solidFill>
                  <a:srgbClr val="64748B"/>
                </a:solidFill>
                <a:latin typeface="Aptos"/>
              </a:rPr>
              <a:t>untuk</a:t>
            </a:r>
            <a:r>
              <a:rPr lang="en-ID" sz="1400" dirty="0">
                <a:solidFill>
                  <a:srgbClr val="64748B"/>
                </a:solidFill>
                <a:latin typeface="Aptos"/>
              </a:rPr>
              <a:t> </a:t>
            </a:r>
            <a:r>
              <a:rPr lang="en-ID" sz="1400" dirty="0" err="1">
                <a:solidFill>
                  <a:srgbClr val="64748B"/>
                </a:solidFill>
                <a:latin typeface="Aptos"/>
              </a:rPr>
              <a:t>memantau</a:t>
            </a:r>
            <a:r>
              <a:rPr lang="en-ID" sz="1400" dirty="0">
                <a:solidFill>
                  <a:srgbClr val="64748B"/>
                </a:solidFill>
                <a:latin typeface="Aptos"/>
              </a:rPr>
              <a:t> </a:t>
            </a:r>
            <a:r>
              <a:rPr lang="en-ID" sz="1400" dirty="0" err="1">
                <a:solidFill>
                  <a:srgbClr val="64748B"/>
                </a:solidFill>
                <a:latin typeface="Aptos"/>
              </a:rPr>
              <a:t>tren</a:t>
            </a:r>
            <a:r>
              <a:rPr lang="en-ID" sz="1400" dirty="0">
                <a:solidFill>
                  <a:srgbClr val="64748B"/>
                </a:solidFill>
                <a:latin typeface="Aptos"/>
              </a:rPr>
              <a:t> </a:t>
            </a:r>
            <a:r>
              <a:rPr lang="en-ID" sz="1400" dirty="0" err="1">
                <a:solidFill>
                  <a:srgbClr val="64748B"/>
                </a:solidFill>
                <a:latin typeface="Aptos"/>
              </a:rPr>
              <a:t>pendapatan</a:t>
            </a:r>
            <a:r>
              <a:rPr lang="en-ID" sz="1400" dirty="0">
                <a:solidFill>
                  <a:srgbClr val="64748B"/>
                </a:solidFill>
                <a:latin typeface="Aptos"/>
              </a:rPr>
              <a:t> dan </a:t>
            </a:r>
            <a:r>
              <a:rPr lang="en-ID" sz="1400" dirty="0" err="1">
                <a:solidFill>
                  <a:srgbClr val="64748B"/>
                </a:solidFill>
                <a:latin typeface="Aptos"/>
              </a:rPr>
              <a:t>performa</a:t>
            </a:r>
            <a:r>
              <a:rPr lang="en-ID" sz="1400" dirty="0">
                <a:solidFill>
                  <a:srgbClr val="64748B"/>
                </a:solidFill>
                <a:latin typeface="Aptos"/>
              </a:rPr>
              <a:t> </a:t>
            </a:r>
            <a:r>
              <a:rPr lang="en-ID" sz="1400" dirty="0" err="1">
                <a:solidFill>
                  <a:srgbClr val="64748B"/>
                </a:solidFill>
                <a:latin typeface="Aptos"/>
              </a:rPr>
              <a:t>produk</a:t>
            </a:r>
            <a:r>
              <a:rPr lang="en-ID" sz="1400" dirty="0">
                <a:solidFill>
                  <a:srgbClr val="64748B"/>
                </a:solidFill>
                <a:latin typeface="Aptos"/>
              </a:rPr>
              <a:t>, </a:t>
            </a:r>
            <a:r>
              <a:rPr lang="en-ID" sz="1400" dirty="0" err="1">
                <a:solidFill>
                  <a:srgbClr val="64748B"/>
                </a:solidFill>
                <a:latin typeface="Aptos"/>
              </a:rPr>
              <a:t>sehingga</a:t>
            </a:r>
            <a:r>
              <a:rPr lang="en-ID" sz="1400" dirty="0">
                <a:solidFill>
                  <a:srgbClr val="64748B"/>
                </a:solidFill>
                <a:latin typeface="Aptos"/>
              </a:rPr>
              <a:t> </a:t>
            </a:r>
            <a:r>
              <a:rPr lang="en-ID" sz="1400" dirty="0" err="1">
                <a:solidFill>
                  <a:srgbClr val="64748B"/>
                </a:solidFill>
                <a:latin typeface="Aptos"/>
              </a:rPr>
              <a:t>perubahan</a:t>
            </a:r>
            <a:r>
              <a:rPr lang="en-ID" sz="1400" dirty="0">
                <a:solidFill>
                  <a:srgbClr val="64748B"/>
                </a:solidFill>
                <a:latin typeface="Aptos"/>
              </a:rPr>
              <a:t> </a:t>
            </a:r>
            <a:r>
              <a:rPr lang="en-ID" sz="1400" dirty="0" err="1">
                <a:solidFill>
                  <a:srgbClr val="64748B"/>
                </a:solidFill>
                <a:latin typeface="Aptos"/>
              </a:rPr>
              <a:t>penjualan</a:t>
            </a:r>
            <a:r>
              <a:rPr lang="en-ID" sz="1400" dirty="0">
                <a:solidFill>
                  <a:srgbClr val="64748B"/>
                </a:solidFill>
                <a:latin typeface="Aptos"/>
              </a:rPr>
              <a:t> </a:t>
            </a:r>
            <a:r>
              <a:rPr lang="en-ID" sz="1400" dirty="0" err="1">
                <a:solidFill>
                  <a:srgbClr val="64748B"/>
                </a:solidFill>
                <a:latin typeface="Aptos"/>
              </a:rPr>
              <a:t>dapat</a:t>
            </a:r>
            <a:r>
              <a:rPr lang="en-ID" sz="1400" dirty="0">
                <a:solidFill>
                  <a:srgbClr val="64748B"/>
                </a:solidFill>
                <a:latin typeface="Aptos"/>
              </a:rPr>
              <a:t> </a:t>
            </a:r>
            <a:r>
              <a:rPr lang="en-ID" sz="1400" dirty="0" err="1">
                <a:solidFill>
                  <a:srgbClr val="64748B"/>
                </a:solidFill>
                <a:latin typeface="Aptos"/>
              </a:rPr>
              <a:t>diketahui</a:t>
            </a:r>
            <a:r>
              <a:rPr lang="en-ID" sz="1400" dirty="0">
                <a:solidFill>
                  <a:srgbClr val="64748B"/>
                </a:solidFill>
                <a:latin typeface="Aptos"/>
              </a:rPr>
              <a:t> </a:t>
            </a:r>
            <a:r>
              <a:rPr lang="en-ID" sz="1400" dirty="0" err="1">
                <a:solidFill>
                  <a:srgbClr val="64748B"/>
                </a:solidFill>
                <a:latin typeface="Aptos"/>
              </a:rPr>
              <a:t>lebih</a:t>
            </a:r>
            <a:r>
              <a:rPr lang="en-ID" sz="1400" dirty="0">
                <a:solidFill>
                  <a:srgbClr val="64748B"/>
                </a:solidFill>
                <a:latin typeface="Aptos"/>
              </a:rPr>
              <a:t> </a:t>
            </a:r>
            <a:r>
              <a:rPr lang="en-ID" sz="1400" dirty="0" err="1">
                <a:solidFill>
                  <a:srgbClr val="64748B"/>
                </a:solidFill>
                <a:latin typeface="Aptos"/>
              </a:rPr>
              <a:t>awal</a:t>
            </a:r>
            <a:r>
              <a:rPr lang="en-ID" sz="1400" dirty="0">
                <a:solidFill>
                  <a:srgbClr val="64748B"/>
                </a:solidFill>
                <a:latin typeface="Aptos"/>
              </a:rPr>
              <a:t> dan </a:t>
            </a:r>
            <a:r>
              <a:rPr lang="en-ID" sz="1400" dirty="0" err="1">
                <a:solidFill>
                  <a:srgbClr val="64748B"/>
                </a:solidFill>
                <a:latin typeface="Aptos"/>
              </a:rPr>
              <a:t>menjadi</a:t>
            </a:r>
            <a:r>
              <a:rPr lang="en-ID" sz="1400" dirty="0">
                <a:solidFill>
                  <a:srgbClr val="64748B"/>
                </a:solidFill>
                <a:latin typeface="Aptos"/>
              </a:rPr>
              <a:t> </a:t>
            </a:r>
            <a:r>
              <a:rPr lang="en-ID" sz="1400" dirty="0" err="1">
                <a:solidFill>
                  <a:srgbClr val="64748B"/>
                </a:solidFill>
                <a:latin typeface="Aptos"/>
              </a:rPr>
              <a:t>dasar</a:t>
            </a:r>
            <a:r>
              <a:rPr lang="en-ID" sz="1400" dirty="0">
                <a:solidFill>
                  <a:srgbClr val="64748B"/>
                </a:solidFill>
                <a:latin typeface="Aptos"/>
              </a:rPr>
              <a:t> </a:t>
            </a:r>
            <a:r>
              <a:rPr lang="en-ID" sz="1400" dirty="0" err="1">
                <a:solidFill>
                  <a:srgbClr val="64748B"/>
                </a:solidFill>
                <a:latin typeface="Aptos"/>
              </a:rPr>
              <a:t>pengambilan</a:t>
            </a:r>
            <a:r>
              <a:rPr lang="en-ID" sz="1400" dirty="0">
                <a:solidFill>
                  <a:srgbClr val="64748B"/>
                </a:solidFill>
                <a:latin typeface="Aptos"/>
              </a:rPr>
              <a:t> </a:t>
            </a:r>
            <a:r>
              <a:rPr lang="en-ID" sz="1400" dirty="0" err="1">
                <a:solidFill>
                  <a:srgbClr val="64748B"/>
                </a:solidFill>
                <a:latin typeface="Aptos"/>
              </a:rPr>
              <a:t>keputusan</a:t>
            </a:r>
            <a:r>
              <a:rPr lang="en-ID" sz="1400" dirty="0">
                <a:solidFill>
                  <a:srgbClr val="64748B"/>
                </a:solidFill>
                <a:latin typeface="Aptos"/>
              </a:rPr>
              <a:t> </a:t>
            </a:r>
            <a:r>
              <a:rPr lang="en-ID" sz="1400" dirty="0" err="1">
                <a:solidFill>
                  <a:srgbClr val="64748B"/>
                </a:solidFill>
                <a:latin typeface="Aptos"/>
              </a:rPr>
              <a:t>bisnis</a:t>
            </a:r>
            <a:r>
              <a:rPr lang="en-ID" sz="1400" dirty="0">
                <a:solidFill>
                  <a:srgbClr val="64748B"/>
                </a:solidFill>
                <a:latin typeface="Aptos"/>
              </a:rPr>
              <a:t>.</a:t>
            </a:r>
            <a:endParaRPr dirty="0"/>
          </a:p>
        </p:txBody>
      </p:sp>
      <p:sp>
        <p:nvSpPr>
          <p:cNvPr id="19" name="Rounded Rectangle 18"/>
          <p:cNvSpPr/>
          <p:nvPr/>
        </p:nvSpPr>
        <p:spPr>
          <a:xfrm>
            <a:off x="502920" y="9372600"/>
            <a:ext cx="8138160" cy="1024128"/>
          </a:xfrm>
          <a:prstGeom prst="roundRect">
            <a:avLst/>
          </a:prstGeom>
          <a:solidFill>
            <a:srgbClr val="08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9674352"/>
            <a:ext cx="7680960" cy="411480"/>
          </a:xfrm>
          <a:prstGeom prst="rect">
            <a:avLst/>
          </a:prstGeom>
          <a:noFill/>
        </p:spPr>
        <p:txBody>
          <a:bodyPr wrap="square">
            <a:spAutoFit/>
          </a:bodyPr>
          <a:lstStyle/>
          <a:p>
            <a:pPr algn="ctr">
              <a:spcAft>
                <a:spcPts val="700"/>
              </a:spcAft>
              <a:defRPr sz="1500" b="1">
                <a:solidFill>
                  <a:srgbClr val="FFFFFF"/>
                </a:solidFill>
                <a:latin typeface="Aptos"/>
              </a:defRPr>
            </a:pPr>
            <a:r>
              <a:t>THANK YOU  •  SQL Server + Looker Studio  •  Portfolio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76</TotalTime>
  <Words>858</Words>
  <Application>Microsoft Office PowerPoint</Application>
  <PresentationFormat>Custom</PresentationFormat>
  <Paragraphs>85</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keywords/>
  <dc:description>generated using python-pptx</dc:description>
  <cp:lastModifiedBy>deliaanjani</cp:lastModifiedBy>
  <cp:revision>2</cp:revision>
  <dcterms:created xsi:type="dcterms:W3CDTF">2013-01-27T09:14:16Z</dcterms:created>
  <dcterms:modified xsi:type="dcterms:W3CDTF">2026-10-20T08:15:15Z</dcterms:modified>
  <cp:category/>
</cp:coreProperties>
</file>